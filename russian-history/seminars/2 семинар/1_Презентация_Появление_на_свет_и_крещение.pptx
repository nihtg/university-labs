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Здравствуйте, уважаемые коллеги и преподаватель! Вашему вниманию представляется доклад по теме: «Появление на свет и таинство крещения». Данное исследование базируется на материалах монографии А. Шокаревой «Дворянская семья: культура общения в России XVIII — первой половины XIX века» (Часть 2, Глава 1, стр. 147–154). В рамках доклада мы всесторонне рассмотрим как историко-культурные практики дворянства, так и микроисторический срез повседневности, опираясь на частную переписку, дневники и мемуары эпохи.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Переходя к первому содержательному аспекту, важно подчеркнуть смену социокультурных парадигм. В допетровской Руси рождение ребенка воспринималось сквозь призму религиозно-патриархального долга. Однако к началу XIX века, благодаря Руссо и Карамзину, дворянская семья открывает для себя самоценность детской жизни. Карамзин в письмах Дмитриеву создает подлинный гимн отцовской нежности. Поразительно свидетельство дипломата Свербеева: его отец, никогда не отличавшийся показной набожностью, ночью идет пешком будить священника, повинуясь безотчетному порыву благодарности за дарованную жизнь. Это доказывает, что эмоциональная привязанность родителей к новорожденным стала неотъемлемой чертой дворянского этоса.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Однако историческая объективность требует признать: далеко не все отцы разделяли восторг Карамзина. Мужская сословная роль требовала служения престолу, а не возни с пеленками. Лев Толстой в «Войне и мире» гениально уловил это первоначальное мужское замешательство князя Андрея. В семье Пушкиных отец держался от детской на почтительном расстоянии. Совершенно особый статус имели роды в правящей династии: Александра Федоровна точно зафиксировала трагическое бремя монаршей судьбы, когда на плечи новорожденного младенца с первой секунды ложится тяжесть управления огромной империей.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Таинство крещения в дворянской среде — это не только сакральный христианский обряд, но и сложнейший светский ритуал. Он требовал четкого соблюдения сословного политеса. Крестный брал на себя все материальные расходы по храму, крестная шила ризки и одеяния младенца. Символический дар «на зубок» в виде золотых червонцев закладывал материальную основу будущего капитала ребенка. Чрезвычайно интересна норма заочного крещения: высокопоставленные сановники соглашались стать крестными родителями, а физически у купели стояли их доверенные представители. Завершался цикл через 40 дней, когда после очистительной молитвы кума торжественно подпоясывала ребенка, вводя его в широкий семейный круг.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Особое внимание автор монографии уделяет феномену монаршего восприемничества. В самодержавной империи личная связь с государем была высшей валютой статуса. Когда Александр I или Николай I соглашались стать крестными, это коренным образом меняло судьбу рода. История композитора Алексея Львова показательна: бытовая сцена, когда всесильный император самолично поднимает с пола упавшую пеленку и подает ее крепостной кормилице, произвела колоссальное впечатление на столичный бомонд. Дворяне мгновенно считывали этот жест как знак абсолютного монаршего фавора, что гарантировало крестнику блестящую служебную карьеру.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Подводя итог нашему докладу, можно констатировать: рождение и крестины в дворянской среде рубежа XVIII–XIX веков являлись отправной точкой конструирования сословной идентичности. Здесь гармонично сошлись частная жизнь с ее искренними слезами родительской радости и публичная жизнь Российской империи с ее метрическими книгами, светским этикетом и монаршим патронатом. Спасибо за внимание, готов ответить на ваши вопросы!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08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8A27"/>
                </a:solidFill>
                <a:latin typeface="Arial"/>
              </a:defRPr>
            </a:pPr>
            <a:r>
              <a:t>ИСТОРИЯ РОССИИ | СЕМИНАР 2 | КУЛЬТУРА ДВОРЯНСКОГО ДЕТСТВА | ГРУППА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365D"/>
                </a:solidFill>
                <a:latin typeface="Georgia"/>
              </a:defRPr>
            </a:pPr>
            <a:r>
              <a:t>Появление на свет и таинство крещения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B6CB0"/>
                </a:solidFill>
                <a:latin typeface="Calibri"/>
              </a:defRPr>
            </a:pPr>
            <a:r>
              <a:t>Рождение ребенка, церковное таинство и царское восприемничество в дворянской культуре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663440"/>
            <a:ext cx="10058400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22222"/>
                </a:solidFill>
                <a:latin typeface="Calibri"/>
              </a:defRPr>
            </a:pPr>
            <a:r>
              <a:t>Студент: Смирнов Вячеслав Юрьевич (группа БСТ2556, шифр ЗБСТ25066)</a:t>
            </a:r>
          </a:p>
          <a:p>
            <a:pPr>
              <a:defRPr sz="1150" i="1">
                <a:solidFill>
                  <a:srgbClr val="555555"/>
                </a:solidFill>
                <a:latin typeface="Calibri"/>
              </a:defRPr>
            </a:pPr>
            <a:r>
              <a:t>Источниковая база: Монография А. Шокаревой «Дворянская семья...» (Часть 2, Глава 1, стр. 147–154)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A27"/>
                </a:solidFill>
                <a:latin typeface="Arial"/>
              </a:defRPr>
            </a:pPr>
            <a:r>
              <a:t>РОЖДЕНИЕ РЕБЕНКА | ЭМОЦИИ РОДИТЕЛЕЙ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A365D"/>
                </a:solidFill>
                <a:latin typeface="Georgia"/>
              </a:defRPr>
            </a:pPr>
            <a:r>
              <a:t>Восприятие рождения ребенка: радость отцовства и сакрализация младенца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600200"/>
            <a:ext cx="3657600" cy="46634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1A365D"/>
                </a:solidFill>
                <a:latin typeface="Arial"/>
              </a:defRPr>
            </a:pPr>
            <a:r>
              <a:t>Свидетельство В.К. Кюхельбекера</a:t>
            </a:r>
          </a:p>
          <a:p>
            <a:pPr>
              <a:defRPr sz="1000" i="1">
                <a:solidFill>
                  <a:srgbClr val="222222"/>
                </a:solidFill>
                <a:latin typeface="Calibri"/>
              </a:defRPr>
            </a:pPr>
            <a:r>
              <a:t>«Миша мой истинно благословенное дитя: с его рождения вокруг меня будто просветлело».</a:t>
            </a:r>
            <a:br/>
            <a:br/>
            <a:r>
              <a:t>Младенец воспринимался родителями как луч духовного света, преображающий повседневный быт.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67665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Трансформация чувств: </a:t>
            </a:r>
            <a:r>
              <a:rPr sz="1200">
                <a:solidFill>
                  <a:srgbClr val="222222"/>
                </a:solidFill>
                <a:latin typeface="Calibri"/>
              </a:rPr>
              <a:t>На рубеже XVIII–XIX вв. под влиянием Просвещения и сентиментализма рождение ребенка перестает быть сугубо утилитарным актом продолжения рода и становится глубочайшим эмоциональным событием семьи.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Н.М. Карамзин (1802 г.): </a:t>
            </a:r>
            <a:r>
              <a:rPr sz="1200">
                <a:solidFill>
                  <a:srgbClr val="222222"/>
                </a:solidFill>
                <a:latin typeface="Calibri"/>
              </a:rPr>
              <a:t>«Я отец маленькой Софьи... Я уже люблю Софью всею душою и радуюсь ею... Теперь я каждую минуту занят и матерью и дочерью» — манифест новой чувствительности.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Д.Н. Свербеев: </a:t>
            </a:r>
            <a:r>
              <a:rPr sz="1200">
                <a:solidFill>
                  <a:srgbClr val="222222"/>
                </a:solidFill>
                <a:latin typeface="Calibri"/>
              </a:rPr>
              <a:t>Отец мемуариста в преклонных летах был так потрясен рождением сына, что глухой ночью пешком пошел в храм Симеона Столпника будить священника ради благодарственного молебна.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Сенатор А.В. Кони: </a:t>
            </a:r>
            <a:r>
              <a:rPr sz="1200">
                <a:solidFill>
                  <a:srgbClr val="222222"/>
                </a:solidFill>
                <a:latin typeface="Calibri"/>
              </a:rPr>
              <a:t>«Не могу описать затем чувство радости, охватившее меня, когда я услышал первый крик новорожденного ребенка».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В.Ф. Одоевский («Новый год»): </a:t>
            </a:r>
            <a:r>
              <a:rPr sz="1200">
                <a:solidFill>
                  <a:srgbClr val="222222"/>
                </a:solidFill>
                <a:latin typeface="Calibri"/>
              </a:rPr>
              <a:t>Поэтизация атмосферы дома: родители и гости шепчутся, благоговейно замирая у колыбели спящего первенца.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A27"/>
                </a:solidFill>
                <a:latin typeface="Arial"/>
              </a:defRPr>
            </a:pPr>
            <a:r>
              <a:t>СОСЛОВНАЯ ДИСТАНЦИЯ | ЦАРСКИЕ РОДЫ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A365D"/>
                </a:solidFill>
                <a:latin typeface="Georgia"/>
              </a:defRPr>
            </a:pPr>
            <a:r>
              <a:t>Контрасты восприятия: отстраненность отцов и специфика царской семьи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600200"/>
            <a:ext cx="3657600" cy="46634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1A365D"/>
                </a:solidFill>
                <a:latin typeface="Arial"/>
              </a:defRPr>
            </a:pPr>
            <a:r>
              <a:t>Двойственность дворянского быта</a:t>
            </a:r>
          </a:p>
          <a:p>
            <a:pPr>
              <a:defRPr sz="1000" i="1">
                <a:solidFill>
                  <a:srgbClr val="222222"/>
                </a:solidFill>
                <a:latin typeface="Calibri"/>
              </a:defRPr>
            </a:pPr>
            <a:r>
              <a:t>Наряду с сентиментальной нежностью в дворянстве сохранялась сословная дистанция: мужской долг службы вытеснял отца из детской, оставляя заботы женской половине дома.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67665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Отстраненность мужского мира: </a:t>
            </a:r>
            <a:r>
              <a:rPr sz="1200">
                <a:solidFill>
                  <a:srgbClr val="222222"/>
                </a:solidFill>
                <a:latin typeface="Calibri"/>
              </a:rPr>
              <a:t>Мужская дворянская идентичность была жестко связана со службой (военной или гражданской). Уход за младенцами традиционно считался сугубо женской сферой кормилиц и повитух.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Князь Андрей Болконский (Л.Н. Толстой): </a:t>
            </a:r>
            <a:r>
              <a:rPr sz="1200">
                <a:solidFill>
                  <a:srgbClr val="222222"/>
                </a:solidFill>
                <a:latin typeface="Calibri"/>
              </a:rPr>
              <a:t>«В углу комнаты хрюкнуло и пискнуло что-то маленькое, красное...» — художественная фиксация первоначального психологического отчуждения отца от новорожденного.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Сергей Львович Пушкин (Ю. Тынянов): </a:t>
            </a:r>
            <a:r>
              <a:rPr sz="1200">
                <a:solidFill>
                  <a:srgbClr val="222222"/>
                </a:solidFill>
                <a:latin typeface="Calibri"/>
              </a:rPr>
              <a:t>Осознал отцовство лишь на третьем сыне (Льве); заходить в детскую считал для себя «смешным, неудобным и ненужным».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Царская семья (Александра Федоровна): </a:t>
            </a:r>
            <a:r>
              <a:rPr sz="1200">
                <a:solidFill>
                  <a:srgbClr val="222222"/>
                </a:solidFill>
                <a:latin typeface="Calibri"/>
              </a:rPr>
              <a:t>При рождении будущего Александра II молодая мать испытала не только счастье, но и «ощутила нечто важное и грустное при мысли, что этому существу предстоит сделаться Императором».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Медицинский контроль короны: </a:t>
            </a:r>
            <a:r>
              <a:rPr sz="1200">
                <a:solidFill>
                  <a:srgbClr val="222222"/>
                </a:solidFill>
                <a:latin typeface="Calibri"/>
              </a:rPr>
              <a:t>Беременности великих княгинь проходили под непрерывным надзором лейб-медиков и вдовствующей императрицы; роды превращались в событие государственной важности.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A27"/>
                </a:solidFill>
                <a:latin typeface="Arial"/>
              </a:defRPr>
            </a:pPr>
            <a:r>
              <a:t>ТАИНСТВО КРЕЩЕНИЯ | ЦЕРКОВНЫЙ ОБРЯД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A365D"/>
                </a:solidFill>
                <a:latin typeface="Georgia"/>
              </a:defRPr>
            </a:pPr>
            <a:r>
              <a:t>Ритуал крестин: выбор восприемников, сословные роли и дары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600200"/>
            <a:ext cx="3657600" cy="46634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1A365D"/>
                </a:solidFill>
                <a:latin typeface="Arial"/>
              </a:defRPr>
            </a:pPr>
            <a:r>
              <a:t>Обряд повивальной бабки и очистительные визиты</a:t>
            </a:r>
          </a:p>
          <a:p>
            <a:pPr>
              <a:defRPr sz="1000" i="1">
                <a:solidFill>
                  <a:srgbClr val="222222"/>
                </a:solidFill>
                <a:latin typeface="Calibri"/>
              </a:defRPr>
            </a:pPr>
            <a:r>
              <a:t>По окончании крестин повивальная бабка подносила вино священнику и кумовьям, получая деньги на блюдо.</a:t>
            </a:r>
            <a:br/>
            <a:br/>
            <a:r>
              <a:t>Через 6 недель (40 дней) мать с ребенком наносила визит куме, которая «подпоясывала новорожденного».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67665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Сроки и метрика: </a:t>
            </a:r>
            <a:r>
              <a:rPr sz="1200">
                <a:solidFill>
                  <a:srgbClr val="222222"/>
                </a:solidFill>
                <a:latin typeface="Calibri"/>
              </a:rPr>
              <a:t>Обычно обряд совершался на 3-й день (или до 40 дней). Запись в метрической книге приходского храма служила главным государственным доказательством дворянства и законнорожденности.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Выбор восприемников (кума и кумы): </a:t>
            </a:r>
            <a:r>
              <a:rPr sz="1200">
                <a:solidFill>
                  <a:srgbClr val="222222"/>
                </a:solidFill>
                <a:latin typeface="Calibri"/>
              </a:rPr>
              <a:t>Приглашения рассылались заблаговременно («Руководство к познанию правил общежития»), чтобы крестные успели подготовиться к сложным церемониальным обязанностям.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Обязанности крестного отца: </a:t>
            </a:r>
            <a:r>
              <a:rPr sz="1200">
                <a:solidFill>
                  <a:srgbClr val="222222"/>
                </a:solidFill>
                <a:latin typeface="Calibri"/>
              </a:rPr>
              <a:t>Покупка нательного крестика на ленте, оплата священника, свечей, купели, церковного причта и чаевые швейцару.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Обязанности крестной матери: </a:t>
            </a:r>
            <a:r>
              <a:rPr sz="1200">
                <a:solidFill>
                  <a:srgbClr val="222222"/>
                </a:solidFill>
                <a:latin typeface="Calibri"/>
              </a:rPr>
              <a:t>Подношение роженице «ризок» (отреза кисеи, ситца, гаруса или шелка), крестильной рубашечки и шапочки для дитяти, а также платка для священника.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Светские дары («на зубок»): </a:t>
            </a:r>
            <a:r>
              <a:rPr sz="1200">
                <a:solidFill>
                  <a:srgbClr val="222222"/>
                </a:solidFill>
                <a:latin typeface="Calibri"/>
              </a:rPr>
              <a:t>Дюжина белых перчаток куме, засахаренные плоды гостям (не менее 24 коробочек), подношение матери золотых монет «на зубок».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Заочное восприемничество: </a:t>
            </a:r>
            <a:r>
              <a:rPr sz="1200">
                <a:solidFill>
                  <a:srgbClr val="222222"/>
                </a:solidFill>
                <a:latin typeface="Calibri"/>
              </a:rPr>
              <a:t>Именитые крестные (дед князь Вяземский, графиня Разумовская) могли участвовать заочно — у купели их представляли доверенные лица.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A27"/>
                </a:solidFill>
                <a:latin typeface="Arial"/>
              </a:defRPr>
            </a:pPr>
            <a:r>
              <a:t>МОНАРШАЯ МИЛОСТЬ | СОЦИАЛЬНЫЙ ЛИФТ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A365D"/>
                </a:solidFill>
                <a:latin typeface="Georgia"/>
              </a:defRPr>
            </a:pPr>
            <a:r>
              <a:t>Царское крестничество: знак высочайшей милости и покровительство трона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600200"/>
            <a:ext cx="3657600" cy="46634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1A365D"/>
                </a:solidFill>
                <a:latin typeface="Arial"/>
              </a:defRPr>
            </a:pPr>
            <a:r>
              <a:t>Цитата А. Шокаревой (стр. 154)</a:t>
            </a:r>
          </a:p>
          <a:p>
            <a:pPr>
              <a:defRPr sz="1000" i="1">
                <a:solidFill>
                  <a:srgbClr val="222222"/>
                </a:solidFill>
                <a:latin typeface="Calibri"/>
              </a:defRPr>
            </a:pPr>
            <a:r>
              <a:t>«Таким образом, церковный обряд крестин объединял дворянское сословие. Если крестными родителями становились император или императрица, этот знак особой милости служил залогом благоприятного отношения царской фамилии на протяжении всей жизни».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67665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Интеграция дворянства и короны: </a:t>
            </a:r>
            <a:r>
              <a:rPr sz="1200">
                <a:solidFill>
                  <a:srgbClr val="222222"/>
                </a:solidFill>
                <a:latin typeface="Calibri"/>
              </a:rPr>
              <a:t>Участие императора или императрицы в качестве восприемников возводило семью на вершину сословной иерархии, гарантируя пожизненную монаршую протекцию.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Особый церемониал: </a:t>
            </a:r>
            <a:r>
              <a:rPr sz="1200">
                <a:solidFill>
                  <a:srgbClr val="222222"/>
                </a:solidFill>
                <a:latin typeface="Calibri"/>
              </a:rPr>
              <a:t>Если восприемником был государь, обряд часто совершался прямо в дворцовой церкви, а нательный крест покупал сам отец младенца.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Семья баронов Розенов: </a:t>
            </a:r>
            <a:r>
              <a:rPr sz="1200">
                <a:solidFill>
                  <a:srgbClr val="222222"/>
                </a:solidFill>
                <a:latin typeface="Calibri"/>
              </a:rPr>
              <a:t>Александр I и Елизавета Алексеевна были посажеными родителями на свадьбе барона Г.В. Розена и фрейлины Е.Д. Зубовой, а затем крестили их детей (первенца и дочь Лидию лично на квартире Розена).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Преемственность царской заботы: </a:t>
            </a:r>
            <a:r>
              <a:rPr sz="1200">
                <a:solidFill>
                  <a:srgbClr val="222222"/>
                </a:solidFill>
                <a:latin typeface="Calibri"/>
              </a:rPr>
              <a:t>Николай I продолжил опекать детей Розенов: присылал фрукты, лично играл с ними и приглашал во дворец в компанию к великим княжнам.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Пример композитора А.Ф. Львова: </a:t>
            </a:r>
            <a:r>
              <a:rPr sz="1200">
                <a:solidFill>
                  <a:srgbClr val="222222"/>
                </a:solidFill>
                <a:latin typeface="Calibri"/>
              </a:rPr>
              <a:t>Николай I стал крестным его сына Федора. Приехав в дом Львова, государь нянчил младенца, а когда кормилица уронила пеленку, сам поднял и подал ее. После этого статус Львова при дворе взлетел на недосягаемую высоту.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A27"/>
                </a:solidFill>
                <a:latin typeface="Arial"/>
              </a:defRPr>
            </a:pPr>
            <a:r>
              <a:t>ВЫВОДЫ ДОКЛАДА | ГРУППА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A365D"/>
                </a:solidFill>
                <a:latin typeface="Georgia"/>
              </a:defRPr>
            </a:pPr>
            <a:r>
              <a:t>Итоги исследования: появление на свет как фундамент дворянской идентичности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600200"/>
            <a:ext cx="3657600" cy="46634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1A365D"/>
                </a:solidFill>
                <a:latin typeface="Arial"/>
              </a:defRPr>
            </a:pPr>
            <a:r>
              <a:t>Ключевой вывод</a:t>
            </a:r>
          </a:p>
          <a:p>
            <a:pPr>
              <a:defRPr sz="1000" i="1">
                <a:solidFill>
                  <a:srgbClr val="222222"/>
                </a:solidFill>
                <a:latin typeface="Calibri"/>
              </a:defRPr>
            </a:pPr>
            <a:r>
              <a:t>Рождение и крещение дворянина представляли собой неразрывный синтез трех начал: глубокого семейного чувства, строгой церковной нормы и публичного сословного этикета, задававшего вектор всей последующей жизни ребенка.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67665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1. Эмоциональный сдвиг: </a:t>
            </a:r>
            <a:r>
              <a:rPr sz="1200">
                <a:solidFill>
                  <a:srgbClr val="222222"/>
                </a:solidFill>
                <a:latin typeface="Calibri"/>
              </a:rPr>
              <a:t>Дворянская семья XIX века органично соединила христианскую традицию с сентиментальной ценностью ребенка, сделав момент рождения точкой глубокого духовного единения родных.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2. Сословная институционализация: </a:t>
            </a:r>
            <a:r>
              <a:rPr sz="1200">
                <a:solidFill>
                  <a:srgbClr val="222222"/>
                </a:solidFill>
                <a:latin typeface="Calibri"/>
              </a:rPr>
              <a:t>Таинство крещения служило правовым и светским институтом, фиксирующим сословную чистоту рода и расширяющим родственные связи через институт кумовства.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3. Ритуальная регламентация: </a:t>
            </a:r>
            <a:r>
              <a:rPr sz="1200">
                <a:solidFill>
                  <a:srgbClr val="222222"/>
                </a:solidFill>
                <a:latin typeface="Calibri"/>
              </a:rPr>
              <a:t>Каждый шаг ритуала (от выбора ткани на ризки до одаривания повивальной бабки и очистительного визита через 40 дней) подчинялся строгому кодексу приличий.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4. Монарший патронат: </a:t>
            </a:r>
            <a:r>
              <a:rPr sz="1200">
                <a:solidFill>
                  <a:srgbClr val="222222"/>
                </a:solidFill>
                <a:latin typeface="Calibri"/>
              </a:rPr>
              <a:t>Царское восприемничество являлось мощнейшим социальным лифтом, скреплявшим верность дворянских фамилий престолу через сакральные узы крестного отцовства.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