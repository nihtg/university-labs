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Здравствуйте, уважаемые коллеги и преподаватель! Вашему вниманию представляется доклад по теме: «Мир детской субкультуры». Данное исследование базируется на материалах монографии А. Шокаревой «Дворянская семья: культура общения в России XVIII — первой половины XIX века» (Часть 2, Глава 4, стр. 183–192). В рамках доклада мы всесторонне рассмотрим как историко-культурные практики дворянства, так и микроисторический срез повседневности, опираясь на частную переписку, дневники и мемуары эпохи.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Уважаемые слушатели! Доклад четвертой группы посвящен удивительному феномену — миру детской субкультуры. Долгое время историки игнорировали этот аспект, считая детство лишь подготовкой к службе. Однако социолог Игорь Семенович Кон доказал: мир детства автономен и обладает собственной трехчастной структурой: игра, фольклор и межличностное общение. В дворянской усадьбе эта субкультура обладала суверенными границами, своими героями и своим кодексом чести, о котором мы подробно поговорим далее.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Отношения братьев и сестер — ярчайшая страница монографии. Шокарева показывает широкий спектр взаимодействий: от трогательной дружбы Михаила и Федора Достоевских до трагедии разделенных расстоянием детей декабристов Давыдовых. Письма маленького Васи Давыдова, посылающего сестрам нарисованного рыцаря, показывают, как семья целенаправленно культивировала родственную любовь. Но жизнь знала и ссоры: Одоевский тонко описывает детские обиды, а раздел наследства во взрослом возрасте порой превращал братьев в злейших врагов.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Выход в свет начинался с детских балов. Здесь семилетние дети разыгрывали роли дипломатов и светских львиц. Мемуарист Брант с юмором приводит диалог двух мальчиков, сыплющих книжными оборотами о дружбе. Здесь же вспыхивали первые романтические чувства: поэт Дмитриев пронес любовь к маленькой родственнице через годы и женился на ней. Не обходилось и без курьезов: Пушкин научил Павлика Вяземского боксу и игре в карты, после чего мальчик устроил кулачные бои на чинном детском балу к ужасу светских мамаш.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Игровой мир дворянского ребенка был прямой проекцией имперского сословного строя. Культурным героем был русский гвардейский офицер: мальчики спали с саблями и разыгрывали Бородинское сражение. Чтение носило серьезный характер. С появлением журнала Николая Новикова русское дворянство получило первую подлинно гуманистическую детскую литературу. Дети взахлеб читали «Робинзона Крузо», проникаясь духом стойкости, пытливости и романтических странствий.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подошли к кульминационному выводу четвертого доклада. Академик Юрий Михайлович Лотман доказал, что детство дворян пушкинской эпохи коренным образом отличалось от прагматичного буржуазного воспитания Европы. В детских играх в Робинзона, в планах Муравьевых основать республику на Сахалине, в игре братьев Бестужевых в благородных разбойников ковался несгибаемый кодекс чести. Упасть, разбить лоб до крови и не заплакать, не ябедничать родителям — вот неписаный закон детской субкультуры, породивший героев 1812 года и Сенатской площади 1825 года!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ИСТОРИЯ РОССИИ | СЕМИНАР 2 | КУЛЬТУРА ДВОРЯНСКОГО ДЕТСТВА | ГРУППА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2A4A"/>
                </a:solidFill>
                <a:latin typeface="Georgia"/>
              </a:defRPr>
            </a:pPr>
            <a:r>
              <a:t>Мир детской субкультуры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D4E89"/>
                </a:solidFill>
                <a:latin typeface="Calibri"/>
              </a:defRPr>
            </a:pPr>
            <a:r>
              <a:t>Детское сообщество, коммуникация сиблингов, игровые практики и воспитание для подвига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663440"/>
            <a:ext cx="10058400" cy="27432"/>
          </a:xfrm>
          <a:prstGeom prst="rect">
            <a:avLst/>
          </a:prstGeom>
          <a:solidFill>
            <a:srgbClr val="FE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1C1917"/>
                </a:solidFill>
                <a:latin typeface="Calibri"/>
              </a:defRPr>
            </a:pPr>
            <a:r>
              <a:t>Студент: Смирнов Вячеслав Юрьевич (группа БСТ2556, шифр ЗБСТ25066)</a:t>
            </a:r>
          </a:p>
          <a:p>
            <a:pPr>
              <a:defRPr sz="1150" i="1">
                <a:solidFill>
                  <a:srgbClr val="57534E"/>
                </a:solidFill>
                <a:latin typeface="Calibri"/>
              </a:defRPr>
            </a:pPr>
            <a:r>
              <a:t>Источниковая база: Монография А. Шокаревой «Дворянская семья...» (Часть 2, Глава 4, стр. 183–192)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ТЕОРИЯ СУБКУЛЬТУРЫ | СТРУКТУРА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2A4A"/>
                </a:solidFill>
                <a:latin typeface="Georgia"/>
              </a:defRPr>
            </a:pPr>
            <a:r>
              <a:t>Понятие «субкультуры детства» и ее структура в исторической науке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FFAF5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F2A4A"/>
                </a:solidFill>
                <a:latin typeface="Arial"/>
              </a:defRPr>
            </a:pPr>
            <a:r>
              <a:t>Методологическая оптика А. Шокаревой</a:t>
            </a:r>
          </a:p>
          <a:p>
            <a:pPr>
              <a:defRPr sz="1000" i="1">
                <a:solidFill>
                  <a:srgbClr val="1C1917"/>
                </a:solidFill>
                <a:latin typeface="Calibri"/>
              </a:defRPr>
            </a:pPr>
            <a:r>
              <a:t>Обращение к понятию «субкультуры детства» позволяет историку преодолеть взрослый эгоцентризм и увидеть дворянское детство глазами самого ребенка — через его игры, радости, ссоры и мечты.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Определение П.С. Гуревича: </a:t>
            </a:r>
            <a:r>
              <a:rPr sz="1200">
                <a:solidFill>
                  <a:srgbClr val="1C1917"/>
                </a:solidFill>
                <a:latin typeface="Calibri"/>
              </a:rPr>
              <a:t>«Особая сфера культуры, суверенное целостное образование внутри господствующей культуры, отличающееся собственным ценностным строем, обычаями, нормами».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Три подсистемы по И.С. Кону: </a:t>
            </a:r>
            <a:r>
              <a:rPr sz="1200">
                <a:solidFill>
                  <a:srgbClr val="1C1917"/>
                </a:solidFill>
                <a:latin typeface="Calibri"/>
              </a:rPr>
              <a:t>Фундаментальный антропологический каркас мира ребенка включает: 1) детскую игру; 2) детский фольклор и художественное творчество; 3) коммуникативное поведение и общение детей.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Суверенность детского мира: </a:t>
            </a:r>
            <a:r>
              <a:rPr sz="1200">
                <a:solidFill>
                  <a:srgbClr val="1C1917"/>
                </a:solidFill>
                <a:latin typeface="Calibri"/>
              </a:rPr>
              <a:t>Детство — не просто подготовка ко взрослой жизни, но самоценный космос со своими неписаными законами, секретами, кодексами солидарности и границами.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Параллельное существование: </a:t>
            </a:r>
            <a:r>
              <a:rPr sz="1200">
                <a:solidFill>
                  <a:srgbClr val="1C1917"/>
                </a:solidFill>
                <a:latin typeface="Calibri"/>
              </a:rPr>
              <a:t>Секретный мир детской комнаты жил параллельно парадной жизни дворянской усадьбы, вырабатывая собственные защитные механизмы от давления взрослых.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Сословная специфика: </a:t>
            </a:r>
            <a:r>
              <a:rPr sz="1200">
                <a:solidFill>
                  <a:srgbClr val="1C1917"/>
                </a:solidFill>
                <a:latin typeface="Calibri"/>
              </a:rPr>
              <a:t>Дворянская детская субкультура сочетала фольклорные пласты народной культуры с рафинированным европейским книжным идеалом рыцарства и чести.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КОММУНИКАЦИЯ СИБЛИНГОВ | ССОРЫ И ДРУЖБА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2A4A"/>
                </a:solidFill>
                <a:latin typeface="Georgia"/>
              </a:defRPr>
            </a:pPr>
            <a:r>
              <a:t>Общение братьев и сестер: солидарность, детские конфликты и память детства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FFAF5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F2A4A"/>
                </a:solidFill>
                <a:latin typeface="Arial"/>
              </a:defRPr>
            </a:pPr>
            <a:r>
              <a:t>Почтение к возрасту у Несвицких</a:t>
            </a:r>
          </a:p>
          <a:p>
            <a:pPr>
              <a:defRPr sz="1000" i="1">
                <a:solidFill>
                  <a:srgbClr val="1C1917"/>
                </a:solidFill>
                <a:latin typeface="Calibri"/>
              </a:defRPr>
            </a:pPr>
            <a:r>
              <a:t>Даже между братьями и сестрами строго соблюдалась субординация: младшие обращались к старшим исключительно на «вы», а за глаза говорили «они» или «оне».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Дружба братьев Достоевских: </a:t>
            </a:r>
            <a:r>
              <a:rPr sz="1200">
                <a:solidFill>
                  <a:srgbClr val="1C1917"/>
                </a:solidFill>
                <a:latin typeface="Calibri"/>
              </a:rPr>
              <a:t>Старшие братья Михаил и Федор росли погодками, делили общий зал, имели общие интеллектуальные интересы и сохранили неразрывную братскую дружбу до конца дней.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Сестринская нежность Бибиковых: </a:t>
            </a:r>
            <a:r>
              <a:rPr sz="1200">
                <a:solidFill>
                  <a:srgbClr val="1C1917"/>
                </a:solidFill>
                <a:latin typeface="Calibri"/>
              </a:rPr>
              <a:t>Елизавета Менгден вспоминала, как сестра Катя играла с ней в куклы во время болезни, девочки вставали в 5 утра учить уроки, а брат Александр отдал последние деньги на подарок сестре.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Письма сквозь сибирскую ссылку: </a:t>
            </a:r>
            <a:r>
              <a:rPr sz="1200">
                <a:solidFill>
                  <a:srgbClr val="1C1917"/>
                </a:solidFill>
                <a:latin typeface="Calibri"/>
              </a:rPr>
              <a:t>Дети декабриста В.Л. Давыдова крепили узы сквозь тысячи верст: маленький Вася слал сестрам в Москву рисунки рыцарей с надписью «Je t'embrasse de tout mon coeur».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Детские ссоры и примирения: </a:t>
            </a:r>
            <a:r>
              <a:rPr sz="1200">
                <a:solidFill>
                  <a:srgbClr val="1C1917"/>
                </a:solidFill>
                <a:latin typeface="Calibri"/>
              </a:rPr>
              <a:t>В.Ф. Одоевский («Отрывки из журнала Маши») описал психологию детской ссоры из-за нежелания взрослеющей сестры играть с маленьким братом и их примирение за игрой в солдатики.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Взрослые расколы из-за наследства: </a:t>
            </a:r>
            <a:r>
              <a:rPr sz="1200">
                <a:solidFill>
                  <a:srgbClr val="1C1917"/>
                </a:solidFill>
                <a:latin typeface="Calibri"/>
              </a:rPr>
              <a:t>Травмы детского соперничества порой выливались во вражду взрослых: «брат-враг» отца Герцена или комедия Н.В. Гоголя «Владимир 3-й степени» (дележ имения).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СОЦИАЛИЗАЦИЯ ВНЕ СЕМЬИ | ДЕТСКИЕ БАЛЫ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2A4A"/>
                </a:solidFill>
                <a:latin typeface="Georgia"/>
              </a:defRPr>
            </a:pPr>
            <a:r>
              <a:t>Детские балы, визиты и копирование светского политеса взрослых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FFAF5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F2A4A"/>
                </a:solidFill>
                <a:latin typeface="Arial"/>
              </a:defRPr>
            </a:pPr>
            <a:r>
              <a:t>Свидетельство Н.М. Карамзина (1816 г.)</a:t>
            </a:r>
          </a:p>
          <a:p>
            <a:pPr>
              <a:defRPr sz="1000" i="1">
                <a:solidFill>
                  <a:srgbClr val="1C1917"/>
                </a:solidFill>
                <a:latin typeface="Calibri"/>
              </a:defRPr>
            </a:pPr>
            <a:r>
              <a:t>«Третьего дня был я на маленьком детском бале у гр. Толстого, и чуть не залился слезами, смотря на малюток и матерей их».</a:t>
            </a:r>
            <a:br/>
            <a:br/>
            <a:r>
              <a:t>Детский бал служил сценой умиления для родителей и первой школой светского этикета для детей.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Детские балы как школа социализации: </a:t>
            </a:r>
            <a:r>
              <a:rPr sz="1200">
                <a:solidFill>
                  <a:srgbClr val="1C1917"/>
                </a:solidFill>
                <a:latin typeface="Calibri"/>
              </a:rPr>
              <a:t>Дворянские дети редко общались со случайными сверстниками. Главным местом светских встреч были детские балы (бал у графа Толстого, растрогавший Карамзина).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Копирование взрослой галантности: </a:t>
            </a:r>
            <a:r>
              <a:rPr sz="1200">
                <a:solidFill>
                  <a:srgbClr val="1C1917"/>
                </a:solidFill>
                <a:latin typeface="Calibri"/>
              </a:rPr>
              <a:t>Мальчики подавали девочкам стулья, угощали фруктами, учились вести светскую беседу, музицировать и танцевать под наблюдением родителей.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Мемуары Л.В. Бранта: </a:t>
            </a:r>
            <a:r>
              <a:rPr sz="1200">
                <a:solidFill>
                  <a:srgbClr val="1C1917"/>
                </a:solidFill>
                <a:latin typeface="Calibri"/>
              </a:rPr>
              <a:t>Забавные диалоги семилетних детей, зеркально копирующих выспренный салонный тон: «Простите моей откровенности... я бы желал приобресть дружбу вашу!» — «Благодарю за доброе обо мне мнение!»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Первая детская влюбленность: </a:t>
            </a:r>
            <a:r>
              <a:rPr sz="1200">
                <a:solidFill>
                  <a:srgbClr val="1C1917"/>
                </a:solidFill>
                <a:latin typeface="Calibri"/>
              </a:rPr>
              <a:t>Поэт М.А. Дмитриев встретил будущую жену на детских играх (ему было 14, ей — 7 лет), она подарила ему платок, завязалась переписка; литературный аналог — Наташа Ростова и Борис Друбецкой.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Хулиганство юного Павла Вяземского: </a:t>
            </a:r>
            <a:r>
              <a:rPr sz="1200">
                <a:solidFill>
                  <a:srgbClr val="1C1917"/>
                </a:solidFill>
                <a:latin typeface="Calibri"/>
              </a:rPr>
              <a:t>А.С. Пушкин научил мальчика английскому боксу — Павел с энтузиазмом боксировал на балах со всеми гостями, за что его на время перестали возить в свет.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ИГРУШКИ И ЧТЕНИЕ | МОДЕЛИРОВАНИЕ МИРА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2A4A"/>
                </a:solidFill>
                <a:latin typeface="Georgia"/>
              </a:defRPr>
            </a:pPr>
            <a:r>
              <a:t>Детские игры, предметный мир и круг чтения дворянского ребенка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FFAF5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F2A4A"/>
                </a:solidFill>
                <a:latin typeface="Arial"/>
              </a:defRPr>
            </a:pPr>
            <a:r>
              <a:t>Детские годы Багрова-внука (С.Т. Аксаков)</a:t>
            </a:r>
          </a:p>
          <a:p>
            <a:pPr>
              <a:defRPr sz="1000" i="1">
                <a:solidFill>
                  <a:srgbClr val="1C1917"/>
                </a:solidFill>
                <a:latin typeface="Calibri"/>
              </a:defRPr>
            </a:pPr>
            <a:r>
              <a:t>Мальчик каждый день читал маленькой сестре единственную книгу «Зеркало добродетели», а затем принялся за домашний лечебник Бухана, пока сосед не подарил журнал Новикова, перевернувший его духовный мир.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Гендерное моделирование ролей: </a:t>
            </a:r>
            <a:r>
              <a:rPr sz="1200">
                <a:solidFill>
                  <a:srgbClr val="1C1917"/>
                </a:solidFill>
                <a:latin typeface="Calibri"/>
              </a:rPr>
              <a:t>Девочки играли в куклы («дочки-матери», обустройство гардероба и спален в шкафах дедушки Оболенского); мальчики играли в офицеров, войну, оловянных солдатиков, конные маневры.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Офицер как культурный герой эпохи: </a:t>
            </a:r>
            <a:r>
              <a:rPr sz="1200">
                <a:solidFill>
                  <a:srgbClr val="1C1917"/>
                </a:solidFill>
                <a:latin typeface="Calibri"/>
              </a:rPr>
              <a:t>Восьмилетний дворянин брал деревянную саблю, чтобы «охранять мать и сестру», инсценируя сражения Отечественной войны 1812 года.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Механические игрушки: </a:t>
            </a:r>
            <a:r>
              <a:rPr sz="1200">
                <a:solidFill>
                  <a:srgbClr val="1C1917"/>
                </a:solidFill>
                <a:latin typeface="Calibri"/>
              </a:rPr>
              <a:t>Появление сложных заводных механизмов (Александр Герцен разобрал заводную кухню с механическими поварами, чтобы постичь устройство пружины).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Подвижные забавы: </a:t>
            </a:r>
            <a:r>
              <a:rPr sz="1200">
                <a:solidFill>
                  <a:srgbClr val="1C1917"/>
                </a:solidFill>
                <a:latin typeface="Calibri"/>
              </a:rPr>
              <a:t>Жмурки, зайцы (догонялки), городки, жгуты, игра в разбойников на открытом воздухе.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Круг детского чтения: </a:t>
            </a:r>
            <a:r>
              <a:rPr sz="1200">
                <a:solidFill>
                  <a:srgbClr val="1C1917"/>
                </a:solidFill>
                <a:latin typeface="Calibri"/>
              </a:rPr>
              <a:t>Журнал Н.И. Новикова «Детское чтение для сердца и разума» (1785–1789), «Зеркало добродетели», «Лечебник Бухана» (С.Т. Аксаков), романы «Робинзон Крузо» и «Дон Кихот», трагедии Расина и Корнеля.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Arial"/>
              </a:defRPr>
            </a:pPr>
            <a:r>
              <a:t>ВОСПИТАНИЕ ДЛЯ ПОДВИГА | КОДЕКС ЧЕСТИ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2A4A"/>
                </a:solidFill>
                <a:latin typeface="Georgia"/>
              </a:defRPr>
            </a:pPr>
            <a:r>
              <a:t>Концепция Ю.М. Лотмана: воспитание для подвига и кодекс дворянской чести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600200"/>
            <a:ext cx="3657600" cy="4663440"/>
          </a:xfrm>
          <a:prstGeom prst="roundRect">
            <a:avLst/>
          </a:prstGeom>
          <a:solidFill>
            <a:srgbClr val="FFFAF5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 rIns="274320" bIns="228600"/>
          <a:lstStyle/>
          <a:p>
            <a:pPr algn="ctr">
              <a:spcAft>
                <a:spcPts val="600"/>
              </a:spcAft>
              <a:defRPr sz="1150" b="1">
                <a:solidFill>
                  <a:srgbClr val="0F2A4A"/>
                </a:solidFill>
                <a:latin typeface="Arial"/>
              </a:defRPr>
            </a:pPr>
            <a:r>
              <a:t>Формирование поколения 1812 и 1825 годов</a:t>
            </a:r>
          </a:p>
          <a:p>
            <a:pPr>
              <a:defRPr sz="1000" i="1">
                <a:solidFill>
                  <a:srgbClr val="1C1917"/>
                </a:solidFill>
                <a:latin typeface="Calibri"/>
              </a:defRPr>
            </a:pPr>
            <a:r>
              <a:t>«Ни у кого и мысли не возникало жаловаться родителям — малыши уже с раннего возраста заботились о своей репутации, показывать слабость и трусость было ниже их достоинства» (А. Шокарева, стр. 192).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67665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Ю.М. Лотман о дворянском детстве начала XIX века: </a:t>
            </a:r>
            <a:r>
              <a:rPr sz="1200">
                <a:solidFill>
                  <a:srgbClr val="1C1917"/>
                </a:solidFill>
                <a:latin typeface="Calibri"/>
              </a:rPr>
              <a:t>Это было особое детство, «которое создает людей, уже заранее подготовленных не для рутинной карьеры, не для службы, а для подвигов».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Романтические мечты будущих декабристов: </a:t>
            </a:r>
            <a:r>
              <a:rPr sz="1200">
                <a:solidFill>
                  <a:srgbClr val="1C1917"/>
                </a:solidFill>
                <a:latin typeface="Calibri"/>
              </a:rPr>
              <a:t>Молодые Муравьевы грезили побегом на Сахалин, представлявшийся им идеальным необитаемым островом, ради основания там совершенной свободной республики.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Романтический побег В.К. Кюхельбекера: </a:t>
            </a:r>
            <a:r>
              <a:rPr sz="1200">
                <a:solidFill>
                  <a:srgbClr val="1C1917"/>
                </a:solidFill>
                <a:latin typeface="Calibri"/>
              </a:rPr>
              <a:t>Юный поэт пытался бежать из дома к возлюбленной Минхен в город Верро, чтобы обвенчаться и счастливо жить в лесной хижине.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Детский кодекс чести (семья Бестужевых): </a:t>
            </a:r>
            <a:r>
              <a:rPr sz="1200">
                <a:solidFill>
                  <a:srgbClr val="1C1917"/>
                </a:solidFill>
                <a:latin typeface="Calibri"/>
              </a:rPr>
              <a:t>Играя в «атамана Ринальдо», младший брат Михаил ударился головой о плот и потерял сознание; придя в себя, он гордился званием «помощника атамана».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D4E89"/>
                </a:solidFill>
                <a:latin typeface="Calibri"/>
              </a:rPr>
              <a:t>Абсолютный запрет на доносительство: </a:t>
            </a:r>
            <a:r>
              <a:rPr sz="1200">
                <a:solidFill>
                  <a:srgbClr val="1C1917"/>
                </a:solidFill>
                <a:latin typeface="Calibri"/>
              </a:rPr>
              <a:t>Ни один из братьев Бестужевых не подумал пожаловаться родителям: малодушие, слезы и ябедничество считались несмываемым позором для дворянина.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