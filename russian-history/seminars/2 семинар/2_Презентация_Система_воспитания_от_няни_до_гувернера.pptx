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Здравствуйте, уважаемые коллеги и преподаватель! Вашему вниманию представляется доклад по теме: «Система воспитания: от няни до гувернера». Данное исследование базируется на материалах монографии А. Шокаревой «Дворянская семья: культура общения в России XVIII — первой половины XIX века» (Часть 2, Глава 5, стр. 193–199). В рамках доклада мы всесторонне рассмотрим как историко-культурные практики дворянства, так и микроисторический срез повседневности, опираясь на частную переписку, дневники и мемуары эпохи.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Переходя к системе воспитания, отметим ее удивительную системность. Русское дворянство создало конвейер социализации, где каждому возрасту соответствовал свой педагог. Младенец находился на руках кормилицы — ее отбор регламентировался государственными и медицинскими предписаниями. Затем вступала няня — хранительница эмоционального покоя. Для мальчика наступал важнейший рубеж 5–7 лет, когда его передавали дядьке: так происходил переход из женской половины дома в мужскую. Затем наступал черед бонны-иностранки, ставившей безупречный французский прононс, и, наконец, гувернера, готовившего юношу к государственной службе.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Феномен крепостной няни — один из самых трогательных и одновременно парадоксальных в русской культуре. Лишенные свободы женщины дарили барским детям материнскую нежность, которой те часто не видели от собственных матерей. Победоносцев подчеркивает: религиозное чувство русского дворянина рождалось не из богословских трактатов, а из горячей молитвы простой няни и утренней просфорки. Связь воспитанников с нянями не обрывалась с годами: няня Матрена Ефимовна у графа Федора Толстого управляла его домом и отчитывала взрослого графа за женитьбу, оставаясь непререкаемым моральным авторитетом.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Однако А. Шокарева предостерегает от идеализации этого института. Крепостное право уродовало детскую душу глубочайшим когнитивным диссонансом. К.Д. Ушинский прямо связывал дефекты российской бюрократии — произвол, лицемерие и сервилизм — с опытом барчонка, командующего рабами. Случаи Клейнмихеля или генеральши Рытовой, учивших детей бить кормилиц башмаком по лицу, обнажают чудовищную изнанку крепостничества. Кроме того, необразованные няни пичкали детей рассказами о нечистой силе, порождая фобии и неврозы, как у мемуариста Загоскина.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Институт иностранного гувернерства нес в себе свет европейской культуры, но порождал немало проблем. С одной стороны — блестящее знание языков. С другой стороны — колоссальное количество проходимцев без педагогического образования. П.И. Сумароков с сарказмом описывал высокомерие гувернеров. Вяземский вспоминал душевные травмы от жестоких окриков наставников. Уникальный документ из архива Воеводских — правила Хондзынской — формулирует высочайший профессиональный стандарт: гувернантка обязана избегать как деспотизма, так и панибратства, осознавая сакральную ответственность перед Богом за душу ребенка.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 заключение подчеркнем: система воспитания дворянского ребенка являлась сложнейшим социокультурным феноменом. Именно в детской сталкивались две главные силы российской истории XVIII–XIX веков: народная крестьянская стихия и европейский просвещенный абсолютизм. Их синтез в сознании Пушкина, Толстого, Герцена, декабристов определил расцвет отечественной литературы и общественной мысли. Спасибо за внимание!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Arial"/>
              </a:defRPr>
            </a:pPr>
            <a:r>
              <a:t>ИСТОРИЯ РОССИИ | СЕМИНАР 2 | КУЛЬТУРА ДВОРЯНСКОГО ДЕТСТВА | ГРУППА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B4D3E"/>
                </a:solidFill>
                <a:latin typeface="Georgia"/>
              </a:defRPr>
            </a:pPr>
            <a:r>
              <a:t>Система воспитания: от няни до гувернера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E7D32"/>
                </a:solidFill>
                <a:latin typeface="Calibri"/>
              </a:defRPr>
            </a:pPr>
            <a:r>
              <a:t>Возрастная периодизация, роль крепостных нянь и институт иностранного гувернерства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663440"/>
            <a:ext cx="10058400" cy="27432"/>
          </a:xfrm>
          <a:prstGeom prst="rect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F2937"/>
                </a:solidFill>
                <a:latin typeface="Calibri"/>
              </a:defRPr>
            </a:pPr>
            <a:r>
              <a:t>Студент: Смирнов Вячеслав Юрьевич (группа БСТ2556, шифр ЗБСТ25066)</a:t>
            </a:r>
          </a:p>
          <a:p>
            <a:pPr>
              <a:defRPr sz="1150" i="1">
                <a:solidFill>
                  <a:srgbClr val="4B5563"/>
                </a:solidFill>
                <a:latin typeface="Calibri"/>
              </a:defRPr>
            </a:pPr>
            <a:r>
              <a:t>Источниковая база: Монография А. Шокаревой «Дворянская семья...» (Часть 2, Глава 5, стр. 193–199)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97706"/>
                </a:solidFill>
                <a:latin typeface="Arial"/>
              </a:defRPr>
            </a:pPr>
            <a:r>
              <a:t>ПЕРИОДИЗАЦИЯ ВЗРОСЛЕНИЯ | ВОСПИТАТЕЛИ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B4D3E"/>
                </a:solidFill>
                <a:latin typeface="Georgia"/>
              </a:defRPr>
            </a:pPr>
            <a:r>
              <a:t>Этапы взросления дворянского ребенка и фигуры воспитателей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0" y="1600200"/>
            <a:ext cx="3657600" cy="4663440"/>
          </a:xfrm>
          <a:prstGeom prst="roundRect">
            <a:avLst/>
          </a:prstGeom>
          <a:solidFill>
            <a:srgbClr val="F2F8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 bIns="228600"/>
          <a:lstStyle/>
          <a:p>
            <a:pPr algn="ctr">
              <a:spcAft>
                <a:spcPts val="600"/>
              </a:spcAft>
              <a:defRPr sz="1150" b="1">
                <a:solidFill>
                  <a:srgbClr val="1B4D3E"/>
                </a:solidFill>
                <a:latin typeface="Arial"/>
              </a:defRPr>
            </a:pPr>
            <a:r>
              <a:t>Медицинские советы журнала «Патриот» (1804 г.)</a:t>
            </a:r>
          </a:p>
          <a:p>
            <a:pPr>
              <a:defRPr sz="1000" i="1">
                <a:solidFill>
                  <a:srgbClr val="1F2937"/>
                </a:solidFill>
                <a:latin typeface="Calibri"/>
              </a:defRPr>
            </a:pPr>
            <a:r>
              <a:t>Рекомендовалось отучать дитя от груди только при прорезывании 12 зубов.</a:t>
            </a:r>
            <a:br/>
            <a:br/>
            <a:r>
              <a:t>Кормилицу выбирали сходного с матерью телосложения и здорового нрава, избегая светлорусых из-за мнимой «кисловатости» молока.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67665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 b="1">
                <a:solidFill>
                  <a:srgbClr val="2E7D32"/>
                </a:solidFill>
                <a:latin typeface="Calibri"/>
              </a:rPr>
              <a:t>Корреляция с периодизацией Л.С. Выготского: </a:t>
            </a:r>
            <a:r>
              <a:rPr sz="1200">
                <a:solidFill>
                  <a:srgbClr val="1F2937"/>
                </a:solidFill>
                <a:latin typeface="Calibri"/>
              </a:rPr>
              <a:t>Дворянская педагогика эмпирически выстроила систему, точно совпадающую с этапами детского развития: кризис новорожденности, раннее детство (до 3 лет), дошкольный (3–7 лет), школьный возраст (7–13 лет), юношество (14–17 лет).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2E7D32"/>
                </a:solidFill>
                <a:latin typeface="Calibri"/>
              </a:rPr>
              <a:t>1. Кормилица (до 1 года / до 12 зубов): </a:t>
            </a:r>
            <a:r>
              <a:rPr sz="1200">
                <a:solidFill>
                  <a:srgbClr val="1F2937"/>
                </a:solidFill>
                <a:latin typeface="Calibri"/>
              </a:rPr>
              <a:t>Физическое выживание младенца. Строжайший отбор (особенно для царских детей и по журналу «Патриот» 1804 г.): возраст 20–35 лет, согласие в семье, свидетельство духовника, не светлорусая.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2E7D32"/>
                </a:solidFill>
                <a:latin typeface="Calibri"/>
              </a:rPr>
              <a:t>2. Крепостная няня (до 3–5 лет): </a:t>
            </a:r>
            <a:r>
              <a:rPr sz="1200">
                <a:solidFill>
                  <a:srgbClr val="1F2937"/>
                </a:solidFill>
                <a:latin typeface="Calibri"/>
              </a:rPr>
              <a:t>Ежедневный присмотр, эмоциональное тепло, колыбельные песни, сказки и первичное религиозное воспитание (просфорки, молитва).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2E7D32"/>
                </a:solidFill>
                <a:latin typeface="Calibri"/>
              </a:rPr>
              <a:t>3. Крепостной «дядька» (с 5–7 лет для мальчиков): </a:t>
            </a:r>
            <a:r>
              <a:rPr sz="1200">
                <a:solidFill>
                  <a:srgbClr val="1F2937"/>
                </a:solidFill>
                <a:latin typeface="Calibri"/>
              </a:rPr>
              <a:t>Обучение начальной русской и церковнославянской грамоте, счету, церковному пению (пример Д.Н. Свербеева и Пивоварова).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2E7D32"/>
                </a:solidFill>
                <a:latin typeface="Calibri"/>
              </a:rPr>
              <a:t>4. «Мадам» / Бонна (с 3–4 до 7–9 лет): </a:t>
            </a:r>
            <a:r>
              <a:rPr sz="1200">
                <a:solidFill>
                  <a:srgbClr val="1F2937"/>
                </a:solidFill>
                <a:latin typeface="Calibri"/>
              </a:rPr>
              <a:t>Иностранка (француженка/немка). Постановка языка и светских манер (Герцен: няня Вера Артамоновна и m-me Прово).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2E7D32"/>
                </a:solidFill>
                <a:latin typeface="Calibri"/>
              </a:rPr>
              <a:t>5. Гувернеры (с 7–8 до 16 лет): </a:t>
            </a:r>
            <a:r>
              <a:rPr sz="1200">
                <a:solidFill>
                  <a:srgbClr val="1F2937"/>
                </a:solidFill>
                <a:latin typeface="Calibri"/>
              </a:rPr>
              <a:t>Систематическое гимназическое образование (языки, история, математика, науки) до кадетского корпуса или выхода в свет.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97706"/>
                </a:solidFill>
                <a:latin typeface="Arial"/>
              </a:defRPr>
            </a:pPr>
            <a:r>
              <a:t>КРЕПОСТНАЯ НЯНЯ | ДУХОВНЫЙ МИР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B4D3E"/>
                </a:solidFill>
                <a:latin typeface="Georgia"/>
              </a:defRPr>
            </a:pPr>
            <a:r>
              <a:t>Роль крепостных нянь: материнское тепло, фольклор и православие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0" y="1600200"/>
            <a:ext cx="3657600" cy="4663440"/>
          </a:xfrm>
          <a:prstGeom prst="roundRect">
            <a:avLst/>
          </a:prstGeom>
          <a:solidFill>
            <a:srgbClr val="F2F8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 bIns="228600"/>
          <a:lstStyle/>
          <a:p>
            <a:pPr algn="ctr">
              <a:spcAft>
                <a:spcPts val="600"/>
              </a:spcAft>
              <a:defRPr sz="1150" b="1">
                <a:solidFill>
                  <a:srgbClr val="1B4D3E"/>
                </a:solidFill>
                <a:latin typeface="Arial"/>
              </a:defRPr>
            </a:pPr>
            <a:r>
              <a:t>Цитата С.П. Победоносцева</a:t>
            </a:r>
          </a:p>
          <a:p>
            <a:pPr>
              <a:defRPr sz="1000" i="1">
                <a:solidFill>
                  <a:srgbClr val="1F2937"/>
                </a:solidFill>
                <a:latin typeface="Calibri"/>
              </a:defRPr>
            </a:pPr>
            <a:r>
              <a:t>«Ребенок развитием своих религиозных идей был обязан доброй няне более, чем кому-либо».</a:t>
            </a:r>
            <a:br/>
            <a:br/>
            <a:r>
              <a:t>Няня закладывала не книжное, а живое сердечное православие и любовь к родному слову.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67665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 b="1">
                <a:solidFill>
                  <a:srgbClr val="2E7D32"/>
                </a:solidFill>
                <a:latin typeface="Calibri"/>
              </a:rPr>
              <a:t>Эмоциональный фундамент личности: </a:t>
            </a:r>
            <a:r>
              <a:rPr sz="1200">
                <a:solidFill>
                  <a:srgbClr val="1F2937"/>
                </a:solidFill>
                <a:latin typeface="Calibri"/>
              </a:rPr>
              <a:t>Няня дарила дворянскому ребенку безусловную любовь и нежность, компенсируя холодность и дистанцированность светских родителей.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2E7D32"/>
                </a:solidFill>
                <a:latin typeface="Calibri"/>
              </a:rPr>
              <a:t>Приобщение к вере и молитве: </a:t>
            </a:r>
            <a:r>
              <a:rPr sz="1200">
                <a:solidFill>
                  <a:srgbClr val="1F2937"/>
                </a:solidFill>
                <a:latin typeface="Calibri"/>
              </a:rPr>
              <a:t>С.П. Победоносцев описывал типичную няню, приносившую девочке с ранней обедни просфорку («Бог милости прислал!»), осенявшую крестным знамением и певавшую колыбельные («Спас наслал, Никола наделил, а Христос благословил»).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2E7D32"/>
                </a:solidFill>
                <a:latin typeface="Calibri"/>
              </a:rPr>
              <a:t>Погружение в русский фольклор: </a:t>
            </a:r>
            <a:r>
              <a:rPr sz="1200">
                <a:solidFill>
                  <a:srgbClr val="1F2937"/>
                </a:solidFill>
                <a:latin typeface="Calibri"/>
              </a:rPr>
              <a:t>Сказки о святых, богатырях, Иване Грозном, Марфе-Посаднице, Стеньке Разине и былины формировали национальное воображение дворянских детей.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2E7D32"/>
                </a:solidFill>
                <a:latin typeface="Calibri"/>
              </a:rPr>
              <a:t>Пожизненная привязанность воспитанников: </a:t>
            </a:r>
            <a:r>
              <a:rPr sz="1200">
                <a:solidFill>
                  <a:srgbClr val="1F2937"/>
                </a:solidFill>
                <a:latin typeface="Calibri"/>
              </a:rPr>
              <a:t>Граф Ф.П. Толстой (скульптор) сохранил привязанность к няне Матрене Ефимовне, которая во взрослом возрасте распоряжалась его жалованьем; у графини А.С. Шереметевой няня Груша заведовала гардеробом.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2E7D32"/>
                </a:solidFill>
                <a:latin typeface="Calibri"/>
              </a:rPr>
              <a:t>Трогательный дар А.Г. Витковскому: </a:t>
            </a:r>
            <a:r>
              <a:rPr sz="1200">
                <a:solidFill>
                  <a:srgbClr val="1F2937"/>
                </a:solidFill>
                <a:latin typeface="Calibri"/>
              </a:rPr>
              <a:t>При отъезде воспитанника в училище няня со слезами вручила ему хлеб-соль — пять яблок и трехкопеечный крендель, ставшие высшим символом бескорыстной любви.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97706"/>
                </a:solidFill>
                <a:latin typeface="Arial"/>
              </a:defRPr>
            </a:pPr>
            <a:r>
              <a:t>КРЕПОСТНОЕ ПРАВО | ТЕНЕВАЯ СТОРОНА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B4D3E"/>
                </a:solidFill>
                <a:latin typeface="Georgia"/>
              </a:defRPr>
            </a:pPr>
            <a:r>
              <a:t>Социальный дуализм: раздвоение нравственности, суеверия и детские страхи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0" y="1600200"/>
            <a:ext cx="3657600" cy="4663440"/>
          </a:xfrm>
          <a:prstGeom prst="roundRect">
            <a:avLst/>
          </a:prstGeom>
          <a:solidFill>
            <a:srgbClr val="F2F8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 bIns="228600"/>
          <a:lstStyle/>
          <a:p>
            <a:pPr algn="ctr">
              <a:spcAft>
                <a:spcPts val="600"/>
              </a:spcAft>
              <a:defRPr sz="1150" b="1">
                <a:solidFill>
                  <a:srgbClr val="1B4D3E"/>
                </a:solidFill>
                <a:latin typeface="Arial"/>
              </a:defRPr>
            </a:pPr>
            <a:r>
              <a:t>Опасность «двойной правды»</a:t>
            </a:r>
          </a:p>
          <a:p>
            <a:pPr>
              <a:defRPr sz="1000" i="1">
                <a:solidFill>
                  <a:srgbClr val="1F2937"/>
                </a:solidFill>
                <a:latin typeface="Calibri"/>
              </a:defRPr>
            </a:pPr>
            <a:r>
              <a:t>Крепостная реальность раскалывала детскую психику: идеалы Евангелия и Просвещения сталкивались с узаконенным насилием над людьми, убаюкивавшими барчука колыбельными.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67665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 b="1">
                <a:solidFill>
                  <a:srgbClr val="2E7D32"/>
                </a:solidFill>
                <a:latin typeface="Calibri"/>
              </a:rPr>
              <a:t>К.Д. Ушинский о сословном расколе морали: </a:t>
            </a:r>
            <a:r>
              <a:rPr sz="1200">
                <a:solidFill>
                  <a:srgbClr val="1F2937"/>
                </a:solidFill>
                <a:latin typeface="Calibri"/>
              </a:rPr>
              <a:t>Ребенок с ранних лет видел кричащее противоречие между высокими принципами добра в книгах и бесправием крепостных слуг, над которыми он ощущал себя маленьким господином.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2E7D32"/>
                </a:solidFill>
                <a:latin typeface="Calibri"/>
              </a:rPr>
              <a:t>Истоки чиновничьего деспотизма: </a:t>
            </a:r>
            <a:r>
              <a:rPr sz="1200">
                <a:solidFill>
                  <a:srgbClr val="1F2937"/>
                </a:solidFill>
                <a:latin typeface="Calibri"/>
              </a:rPr>
              <a:t>По мысли Ушинского, привычка помыкать крепостными нянями порождала в будущем дворянине «игру произвола, прихоти, хитрости, раболепства и взяток» на государственной службе.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2E7D32"/>
                </a:solidFill>
                <a:latin typeface="Calibri"/>
              </a:rPr>
              <a:t>Развитие суеверий и трусости: </a:t>
            </a:r>
            <a:r>
              <a:rPr sz="1200">
                <a:solidFill>
                  <a:srgbClr val="1F2937"/>
                </a:solidFill>
                <a:latin typeface="Calibri"/>
              </a:rPr>
              <a:t>С.М. Загоскин признавался, что няня и дворовые приживалки внушили ему массу предрассудков и развили паническую трусость: «Я боялся темной комнаты, боялся лошадей, боялся ружья».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2E7D32"/>
                </a:solidFill>
                <a:latin typeface="Calibri"/>
              </a:rPr>
              <a:t>Нравственные соблазны дворового окружения: </a:t>
            </a:r>
            <a:r>
              <a:rPr sz="1200">
                <a:solidFill>
                  <a:srgbClr val="1F2937"/>
                </a:solidFill>
                <a:latin typeface="Calibri"/>
              </a:rPr>
              <a:t>Матери строго запрещали детям ходить в девичью и на кухню, но уследить не могли. Князь И.М. Долгоруков с горечью вспоминал пагубный сексуальный опыт, внушенный дворовым мальчиком.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2E7D32"/>
                </a:solidFill>
                <a:latin typeface="Calibri"/>
              </a:rPr>
              <a:t>Жестокие сословные привычки: </a:t>
            </a:r>
            <a:r>
              <a:rPr sz="1200">
                <a:solidFill>
                  <a:srgbClr val="1F2937"/>
                </a:solidFill>
                <a:latin typeface="Calibri"/>
              </a:rPr>
              <a:t>А.И. Дельвиг описывал, как генерал П.А. Клейнмихель заставлял малолетнего сына бить кормилицу по щекам, а генеральша Рытова учила внучку бить няню башмачком по лицу.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97706"/>
                </a:solidFill>
                <a:latin typeface="Arial"/>
              </a:defRPr>
            </a:pPr>
            <a:r>
              <a:t>ИНОСТРАННЫЕ ГУВЕРНЕРЫ | ДОМАШНЕЕ ОБРАЗОВАНИЕ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B4D3E"/>
                </a:solidFill>
                <a:latin typeface="Georgia"/>
              </a:defRPr>
            </a:pPr>
            <a:r>
              <a:t>Европейское просвещение с гувернерами: плюсы, минусы и сословный этикет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0" y="1600200"/>
            <a:ext cx="3657600" cy="4663440"/>
          </a:xfrm>
          <a:prstGeom prst="roundRect">
            <a:avLst/>
          </a:prstGeom>
          <a:solidFill>
            <a:srgbClr val="F2F8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 bIns="228600"/>
          <a:lstStyle/>
          <a:p>
            <a:pPr algn="ctr">
              <a:spcAft>
                <a:spcPts val="600"/>
              </a:spcAft>
              <a:defRPr sz="1150" b="1">
                <a:solidFill>
                  <a:srgbClr val="1B4D3E"/>
                </a:solidFill>
                <a:latin typeface="Arial"/>
              </a:defRPr>
            </a:pPr>
            <a:r>
              <a:t>Наставления Хондзынской семье Воеводских</a:t>
            </a:r>
          </a:p>
          <a:p>
            <a:pPr>
              <a:defRPr sz="1000" i="1">
                <a:solidFill>
                  <a:srgbClr val="1F2937"/>
                </a:solidFill>
                <a:latin typeface="Calibri"/>
              </a:defRPr>
            </a:pPr>
            <a:r>
              <a:t>«Гувернантка должна быть терпелива... Сей тон должен быть чужд плоскостей, фамильярности или лести, унижения и потворства, равно как педантства и повелительности. Она дает отчет перед родителями и Богом».</a:t>
            </a:r>
            <a:br/>
            <a:br/>
            <a:r>
              <a:t>Поиск идеального баланса между строгостью и благородством.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67665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 b="1">
                <a:solidFill>
                  <a:srgbClr val="2E7D32"/>
                </a:solidFill>
                <a:latin typeface="Calibri"/>
              </a:rPr>
              <a:t>Иерархия престижа наставников: </a:t>
            </a:r>
            <a:r>
              <a:rPr sz="1200">
                <a:solidFill>
                  <a:srgbClr val="1F2937"/>
                </a:solidFill>
                <a:latin typeface="Calibri"/>
              </a:rPr>
              <a:t>В начале XIX в. доминировали французы и немцы; к 1840-м гг. моду перехватили англичанки (ценились выше мужчин) и швейцарцы. Гувернеров выписывали даже ссыльные декабристы в Сибирь (письма сына И.П. Коновницына).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2E7D32"/>
                </a:solidFill>
                <a:latin typeface="Calibri"/>
              </a:rPr>
              <a:t>Плюсы системы: </a:t>
            </a:r>
            <a:r>
              <a:rPr sz="1200">
                <a:solidFill>
                  <a:srgbClr val="1F2937"/>
                </a:solidFill>
                <a:latin typeface="Calibri"/>
              </a:rPr>
              <a:t>Свободное владение несколькими языками, европейский кругозор, манеры, математическая и историческая эрудиция.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2E7D32"/>
                </a:solidFill>
                <a:latin typeface="Calibri"/>
              </a:rPr>
              <a:t>Снобизм иностранцев (П.И. Сумароков): </a:t>
            </a:r>
            <a:r>
              <a:rPr sz="1200">
                <a:solidFill>
                  <a:srgbClr val="1F2937"/>
                </a:solidFill>
                <a:latin typeface="Calibri"/>
              </a:rPr>
              <a:t>Некоторые наемные педагоги презирали Россию: «Толкуют, что у них в сутках по 40 часов, вода розового цвета, что мы варвары, а их крестьянин умнее нашего генерала».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2E7D32"/>
                </a:solidFill>
                <a:latin typeface="Calibri"/>
              </a:rPr>
              <a:t>Психологическое насилие (князь П.А. Вяземский): </a:t>
            </a:r>
            <a:r>
              <a:rPr sz="1200">
                <a:solidFill>
                  <a:srgbClr val="1F2937"/>
                </a:solidFill>
                <a:latin typeface="Calibri"/>
              </a:rPr>
              <a:t>Вспыльчивые и раздражительные наставники без розог калечили детей, зарождая в их душах чувства злобы, непокорства и ожесточения.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2E7D32"/>
                </a:solidFill>
                <a:latin typeface="Calibri"/>
              </a:rPr>
              <a:t>Идейный конфликт (В.Т. Нарежный «Мария»): </a:t>
            </a:r>
            <a:r>
              <a:rPr sz="1200">
                <a:solidFill>
                  <a:srgbClr val="1F2937"/>
                </a:solidFill>
                <a:latin typeface="Calibri"/>
              </a:rPr>
              <a:t>Гувернер-республиканец Бертольд воспитал детей в идеалах равенства и свободы, из-за чего они оказались неприспособленными к самодержавному строю и вступили в конфликт с родителями.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97706"/>
                </a:solidFill>
                <a:latin typeface="Arial"/>
              </a:defRPr>
            </a:pPr>
            <a:r>
              <a:t>ВЫВОДЫ ДОКЛАДА | ГРУППА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B4D3E"/>
                </a:solidFill>
                <a:latin typeface="Georgia"/>
              </a:defRPr>
            </a:pPr>
            <a:r>
              <a:t>Итоги исследования: диалектика сословного воспитания дворянина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0" y="1600200"/>
            <a:ext cx="3657600" cy="4663440"/>
          </a:xfrm>
          <a:prstGeom prst="roundRect">
            <a:avLst/>
          </a:prstGeom>
          <a:solidFill>
            <a:srgbClr val="F2F8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 bIns="228600"/>
          <a:lstStyle/>
          <a:p>
            <a:pPr algn="ctr">
              <a:spcAft>
                <a:spcPts val="600"/>
              </a:spcAft>
              <a:defRPr sz="1150" b="1">
                <a:solidFill>
                  <a:srgbClr val="1B4D3E"/>
                </a:solidFill>
                <a:latin typeface="Arial"/>
              </a:defRPr>
            </a:pPr>
            <a:r>
              <a:t>Итоговая формула</a:t>
            </a:r>
          </a:p>
          <a:p>
            <a:pPr>
              <a:defRPr sz="1000" i="1">
                <a:solidFill>
                  <a:srgbClr val="1F2937"/>
                </a:solidFill>
                <a:latin typeface="Calibri"/>
              </a:defRPr>
            </a:pPr>
            <a:r>
              <a:t>Дворянское воспитание — это уникальный синтез двух миров: народно-православной души, вскормленной крепостной няней, и европейского просвещенного разума, отшлифованного иностранным наставником.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67665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 b="1">
                <a:solidFill>
                  <a:srgbClr val="2E7D32"/>
                </a:solidFill>
                <a:latin typeface="Calibri"/>
              </a:rPr>
              <a:t>1. Триада воспитания: </a:t>
            </a:r>
            <a:r>
              <a:rPr sz="1200">
                <a:solidFill>
                  <a:srgbClr val="1F2937"/>
                </a:solidFill>
                <a:latin typeface="Calibri"/>
              </a:rPr>
              <a:t>Дворянская педагогика опиралась на функциональное разделение: няня давала эмоциональное тепло и веру, гувернер — европейские знания и этикет, родители — родовую честь.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2E7D32"/>
                </a:solidFill>
                <a:latin typeface="Calibri"/>
              </a:rPr>
              <a:t>2. Крепостнический парадокс: </a:t>
            </a:r>
            <a:r>
              <a:rPr sz="1200">
                <a:solidFill>
                  <a:srgbClr val="1F2937"/>
                </a:solidFill>
                <a:latin typeface="Calibri"/>
              </a:rPr>
              <a:t>Институт нянь соединял беззаветную преданность и любовь с опасностью раздвоения морали и формирования барского деспотизма.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2E7D32"/>
                </a:solidFill>
                <a:latin typeface="Calibri"/>
              </a:rPr>
              <a:t>3. Языковой и культурный билингвизм: </a:t>
            </a:r>
            <a:r>
              <a:rPr sz="1200">
                <a:solidFill>
                  <a:srgbClr val="1F2937"/>
                </a:solidFill>
                <a:latin typeface="Calibri"/>
              </a:rPr>
              <a:t>Благодаря гувернерам дворянин становился человеком общеевропейской культуры, свободно ориентирующимся в интеллектуальном пространстве Европы.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2E7D32"/>
                </a:solidFill>
                <a:latin typeface="Calibri"/>
              </a:rPr>
              <a:t>4. Формирование личности: </a:t>
            </a:r>
            <a:r>
              <a:rPr sz="1200">
                <a:solidFill>
                  <a:srgbClr val="1F2937"/>
                </a:solidFill>
                <a:latin typeface="Calibri"/>
              </a:rPr>
              <a:t>Несмотря на издержки, именно это сложное переплетение русской фольклорно-религиозной стихии и европейского рационализма создало золотой век русской дворянской культуры.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