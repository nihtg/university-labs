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Здравствуйте, уважаемые коллеги и преподаватель! Вашему вниманию представляется доклад по теме: «Родители и дети: иерархия и привязанность». Данное исследование базируется на материалах монографии А. Шокаревой «Дворянская семья: культура общения в России XVIII — первой половины XIX века» (Часть 2, Главы 2 и 3, стр. 155–178). В рамках доклада мы всесторонне рассмотрим как историко-культурные практики дворянства, так и микроисторический срез повседневности, опираясь на частную переписку, дневники и мемуары эпохи.</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Коллеги, в третьем докладе мы исследуем ядро дворянского этоса — отношения отцов и детей. Первое, что бросается в глаза современному исследователю — это жесткая дистанция. Мир дворянского ребенка был буквально изолирован физически и коммуникативно. Никаких фамильярностей! Дети не смели вмешиваться в разговоры старших. Вход на взрослую половину дома был строго регламентирован. Фраза мемуариста графа Соллогуба звучит сегодня шокирующе, но она абсолютно точно передает мировоззрение эпохи: ребенок существовал ради славы рода и родителей, а не наоборот.</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Тем не менее, сословная строгость не означала бессердечия. Шокарева приводит поразительные примеры глубочайшей родительской любви. Дневник декабриста Сергея Трубецкого ломает стереотипы о дворянском отце как стороннем наблюдателе: ссыльный князь стирает пеленки, баюкает младенцев, описывает каждый прорезавшийся зубок. Граф Шереметев трогательно оберегает единственного сына Сергея от любых опасностей, запрещая даже резвиться близ печей. Павел I, грозный реформатор армии, дома превращался в любящего отца, игравшего со своими «барашками».</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Оборотной стороной сословного авторитета был педагогический авторитаризм и деспотизм. Отец поэта Вяземского боролся с детской трусостью жестокими методами — бросанием в воду и ночными испытаниями в лесу. Семья Воейкова знала откровенное насилие: ледяная вода на голову плачущего ребенка. Не менее разрушительным был родительский фаворитизм: циничная фраза четы Бибиковых о сыновьях как «пушечном мясе» калечила психику мальчиков. А воспоминания о домашнем обучении у отца Достоевского показывают, каким колоссальным нервным напряжением сопровождалась учеба под надзором вспыльчивого родителя.</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Особый интерес представляет родовая взаимопомощь. Дворянство функционировало как разветвленный клан. Богатые родственники брали к себе сирот и бедных девушек. Пушкинская Лизавета Ивановна — архетип зависимой сироты, однако графиня Риччи доказала, что воспитанница могла стать любимейшей дочерью. За официальным сословным языком скрывался теплый домашний мир ласковых прозвищ — от «Левки-пузыря» у Льва Толстого до трогательных писем Ольги Воеводской, сквозь светский этикет кричащей матери о своей детской тоске.</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Резюмируя наш анализ: отношения родителей и детей в дворянской среде первой половины XIX века находились в точке тектонического сдвига. С одной стороны — строгая иерархия, обращение на «вы» и запрет вмешиваться в дела взрослых. С другой стороны — зарождение глубокого гуманистического понимания самоценности ребенка. Этот дуализм и сформировал поколение, создавшее великую русскую культуру. Благодарю за внимание!</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457200"/>
          </a:xfrm>
          <a:prstGeom prst="rect">
            <a:avLst/>
          </a:prstGeom>
          <a:noFill/>
        </p:spPr>
        <p:txBody>
          <a:bodyPr wrap="none">
            <a:spAutoFit/>
          </a:bodyPr>
          <a:lstStyle/>
          <a:p>
            <a:pPr>
              <a:defRPr sz="1100" b="1">
                <a:solidFill>
                  <a:srgbClr val="D97706"/>
                </a:solidFill>
                <a:latin typeface="Arial"/>
              </a:defRPr>
            </a:pPr>
            <a:r>
              <a:t>ИСТОРИЯ РОССИИ | СЕМИНАР 2 | КУЛЬТУРА ДВОРЯНСКОГО ДЕТСТВА | ГРУППА 3</a:t>
            </a:r>
          </a:p>
        </p:txBody>
      </p:sp>
      <p:sp>
        <p:nvSpPr>
          <p:cNvPr id="4" name="TextBox 3"/>
          <p:cNvSpPr txBox="1"/>
          <p:nvPr/>
        </p:nvSpPr>
        <p:spPr>
          <a:xfrm>
            <a:off x="914400" y="1371600"/>
            <a:ext cx="10332720" cy="2011680"/>
          </a:xfrm>
          <a:prstGeom prst="rect">
            <a:avLst/>
          </a:prstGeom>
          <a:noFill/>
        </p:spPr>
        <p:txBody>
          <a:bodyPr wrap="square">
            <a:spAutoFit/>
          </a:bodyPr>
          <a:lstStyle/>
          <a:p>
            <a:pPr>
              <a:defRPr sz="3000" b="1">
                <a:solidFill>
                  <a:srgbClr val="5B1A3A"/>
                </a:solidFill>
                <a:latin typeface="Georgia"/>
              </a:defRPr>
            </a:pPr>
            <a:r>
              <a:t>Родители и дети: иерархия и привязанность</a:t>
            </a:r>
          </a:p>
        </p:txBody>
      </p:sp>
      <p:sp>
        <p:nvSpPr>
          <p:cNvPr id="5" name="TextBox 4"/>
          <p:cNvSpPr txBox="1"/>
          <p:nvPr/>
        </p:nvSpPr>
        <p:spPr>
          <a:xfrm>
            <a:off x="914400" y="3474720"/>
            <a:ext cx="10332720" cy="1005840"/>
          </a:xfrm>
          <a:prstGeom prst="rect">
            <a:avLst/>
          </a:prstGeom>
          <a:noFill/>
        </p:spPr>
        <p:txBody>
          <a:bodyPr wrap="square">
            <a:spAutoFit/>
          </a:bodyPr>
          <a:lstStyle/>
          <a:p>
            <a:pPr>
              <a:defRPr sz="1700">
                <a:solidFill>
                  <a:srgbClr val="8C2D54"/>
                </a:solidFill>
                <a:latin typeface="Calibri"/>
              </a:defRPr>
            </a:pPr>
            <a:r>
              <a:t>Семейная иерархия, спектр родительской любви и сословный эпистолярный этикет</a:t>
            </a:r>
          </a:p>
        </p:txBody>
      </p:sp>
      <p:sp>
        <p:nvSpPr>
          <p:cNvPr id="6" name="Rectangle 5"/>
          <p:cNvSpPr/>
          <p:nvPr/>
        </p:nvSpPr>
        <p:spPr>
          <a:xfrm>
            <a:off x="914400" y="4663440"/>
            <a:ext cx="10058400" cy="27432"/>
          </a:xfrm>
          <a:prstGeom prst="rect">
            <a:avLst/>
          </a:prstGeom>
          <a:solidFill>
            <a:srgbClr val="DDB8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937760"/>
            <a:ext cx="10058400" cy="1463040"/>
          </a:xfrm>
          <a:prstGeom prst="rect">
            <a:avLst/>
          </a:prstGeom>
          <a:noFill/>
        </p:spPr>
        <p:txBody>
          <a:bodyPr wrap="square">
            <a:spAutoFit/>
          </a:bodyPr>
          <a:lstStyle/>
          <a:p>
            <a:pPr>
              <a:defRPr sz="1250" b="1">
                <a:solidFill>
                  <a:srgbClr val="2A1B22"/>
                </a:solidFill>
                <a:latin typeface="Calibri"/>
              </a:defRPr>
            </a:pPr>
            <a:r>
              <a:t>Студент: Смирнов Вячеслав Юрьевич (группа БСТ2556, шифр ЗБСТ25066)</a:t>
            </a:r>
          </a:p>
          <a:p>
            <a:pPr>
              <a:defRPr sz="1150" i="1">
                <a:solidFill>
                  <a:srgbClr val="664D57"/>
                </a:solidFill>
                <a:latin typeface="Calibri"/>
              </a:defRPr>
            </a:pPr>
            <a:r>
              <a:t>Источниковая база: Монография А. Шокаревой «Дворянская семья...» (Часть 2, Главы 2 и 3, стр. 155–178)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D97706"/>
                </a:solidFill>
                <a:latin typeface="Arial"/>
              </a:defRPr>
            </a:pPr>
            <a:r>
              <a:t>СЕМЕЙНАЯ ТОПОГРАФИЯ | СЕГРЕГАЦИЯ</a:t>
            </a:r>
          </a:p>
        </p:txBody>
      </p:sp>
      <p:sp>
        <p:nvSpPr>
          <p:cNvPr id="3" name="TextBox 2"/>
          <p:cNvSpPr txBox="1"/>
          <p:nvPr/>
        </p:nvSpPr>
        <p:spPr>
          <a:xfrm>
            <a:off x="731520" y="685800"/>
            <a:ext cx="10698480" cy="777240"/>
          </a:xfrm>
          <a:prstGeom prst="rect">
            <a:avLst/>
          </a:prstGeom>
          <a:noFill/>
        </p:spPr>
        <p:txBody>
          <a:bodyPr wrap="none">
            <a:spAutoFit/>
          </a:bodyPr>
          <a:lstStyle/>
          <a:p>
            <a:pPr>
              <a:defRPr sz="2100" b="1">
                <a:solidFill>
                  <a:srgbClr val="5B1A3A"/>
                </a:solidFill>
                <a:latin typeface="Georgia"/>
              </a:defRPr>
            </a:pPr>
            <a:r>
              <a:t>Положение детей в доме: отделение мира детей от мира взрослых</a:t>
            </a:r>
          </a:p>
        </p:txBody>
      </p:sp>
      <p:sp>
        <p:nvSpPr>
          <p:cNvPr id="4" name="Rounded Rectangle 3"/>
          <p:cNvSpPr/>
          <p:nvPr/>
        </p:nvSpPr>
        <p:spPr>
          <a:xfrm>
            <a:off x="7772400" y="1600200"/>
            <a:ext cx="3657600" cy="4663440"/>
          </a:xfrm>
          <a:prstGeom prst="roundRect">
            <a:avLst/>
          </a:prstGeom>
          <a:solidFill>
            <a:srgbClr val="FAF5F7"/>
          </a:solidFill>
          <a:ln w="12700">
            <a:solidFill>
              <a:srgbClr val="DDB8C7"/>
            </a:solidFill>
          </a:ln>
        </p:spPr>
        <p:style>
          <a:lnRef idx="1">
            <a:schemeClr val="accent1"/>
          </a:lnRef>
          <a:fillRef idx="3">
            <a:schemeClr val="accent1"/>
          </a:fillRef>
          <a:effectRef idx="2">
            <a:schemeClr val="accent1"/>
          </a:effectRef>
          <a:fontRef idx="minor">
            <a:schemeClr val="lt1"/>
          </a:fontRef>
        </p:style>
        <p:txBody>
          <a:bodyPr rtlCol="0" anchor="ctr" wrap="square" tIns="228600" lIns="274320" rIns="274320" bIns="228600"/>
          <a:lstStyle/>
          <a:p>
            <a:pPr algn="ctr">
              <a:spcAft>
                <a:spcPts val="600"/>
              </a:spcAft>
              <a:defRPr sz="1150" b="1">
                <a:solidFill>
                  <a:srgbClr val="5B1A3A"/>
                </a:solidFill>
                <a:latin typeface="Arial"/>
              </a:defRPr>
            </a:pPr>
            <a:r>
              <a:t>Сословная субординация</a:t>
            </a:r>
          </a:p>
          <a:p>
            <a:pPr>
              <a:defRPr sz="1000" i="1">
                <a:solidFill>
                  <a:srgbClr val="2A1B22"/>
                </a:solidFill>
                <a:latin typeface="Calibri"/>
              </a:defRPr>
            </a:pPr>
            <a:r>
              <a:t>Ребенок не воспринимался как равноправный партнер. Иерархия семейных отношений неизменно поддерживалась: каждый член фамилии свято знал свое место.</a:t>
            </a:r>
          </a:p>
        </p:txBody>
      </p:sp>
      <p:sp>
        <p:nvSpPr>
          <p:cNvPr id="5" name="TextBox 4"/>
          <p:cNvSpPr txBox="1"/>
          <p:nvPr/>
        </p:nvSpPr>
        <p:spPr>
          <a:xfrm>
            <a:off x="731520" y="1600200"/>
            <a:ext cx="6766560" cy="4663440"/>
          </a:xfrm>
          <a:prstGeom prst="rect">
            <a:avLst/>
          </a:prstGeom>
          <a:noFill/>
        </p:spPr>
        <p:txBody>
          <a:bodyPr wrap="square">
            <a:spAutoFit/>
          </a:bodyPr>
          <a:lstStyle/>
          <a:p>
            <a:pPr>
              <a:spcAft>
                <a:spcPts val="700"/>
              </a:spcAft>
            </a:pPr>
            <a:r>
              <a:rPr sz="1200" b="1">
                <a:solidFill>
                  <a:srgbClr val="8C2D54"/>
                </a:solidFill>
                <a:latin typeface="Calibri"/>
              </a:rPr>
              <a:t>Пространственная изоляция: </a:t>
            </a:r>
            <a:r>
              <a:rPr sz="1200">
                <a:solidFill>
                  <a:srgbClr val="2A1B22"/>
                </a:solidFill>
                <a:latin typeface="Calibri"/>
              </a:rPr>
              <a:t>Мир детей был строго локализован: детская половина дома (флигель, мезонин) отделяла барчука от парадных покоев и взрослой жизни.</a:t>
            </a:r>
          </a:p>
          <a:p>
            <a:pPr>
              <a:spcAft>
                <a:spcPts val="700"/>
              </a:spcAft>
            </a:pPr>
            <a:r>
              <a:rPr sz="1200" b="1">
                <a:solidFill>
                  <a:srgbClr val="8C2D54"/>
                </a:solidFill>
                <a:latin typeface="Calibri"/>
              </a:rPr>
              <a:t>Табу на взрослые темы: </a:t>
            </a:r>
            <a:r>
              <a:rPr sz="1200">
                <a:solidFill>
                  <a:srgbClr val="2A1B22"/>
                </a:solidFill>
                <a:latin typeface="Calibri"/>
              </a:rPr>
              <a:t>Детям категорически возбранялось слушать разговоры о политике, казенных делах, имуществе и светских сплетнях. При первых намеках на такие темы гувернерам предписывалось увести воспитанников.</a:t>
            </a:r>
          </a:p>
          <a:p>
            <a:pPr>
              <a:spcAft>
                <a:spcPts val="700"/>
              </a:spcAft>
            </a:pPr>
            <a:r>
              <a:rPr sz="1200" b="1">
                <a:solidFill>
                  <a:srgbClr val="8C2D54"/>
                </a:solidFill>
                <a:latin typeface="Calibri"/>
              </a:rPr>
              <a:t>Ритуализированные визиты к родителям: </a:t>
            </a:r>
            <a:r>
              <a:rPr sz="1200">
                <a:solidFill>
                  <a:srgbClr val="2A1B22"/>
                </a:solidFill>
                <a:latin typeface="Calibri"/>
              </a:rPr>
              <a:t>Общение с отцом и матерью напоминало дипломатические аудиенции: утром — чинно поздороваться, после обеда — поблагодарить и поцеловать руку, вечером — получить благословение на сон.</a:t>
            </a:r>
          </a:p>
          <a:p>
            <a:pPr>
              <a:spcAft>
                <a:spcPts val="700"/>
              </a:spcAft>
            </a:pPr>
            <a:r>
              <a:rPr sz="1200" b="1">
                <a:solidFill>
                  <a:srgbClr val="8C2D54"/>
                </a:solidFill>
                <a:latin typeface="Calibri"/>
              </a:rPr>
              <a:t>Обращение исключительно на «вы»: </a:t>
            </a:r>
            <a:r>
              <a:rPr sz="1200">
                <a:solidFill>
                  <a:srgbClr val="2A1B22"/>
                </a:solidFill>
                <a:latin typeface="Calibri"/>
              </a:rPr>
              <a:t>Сказать родителям «ты» считалось верхом распущенности. Дети воспитывались в строгом сознании родовой субординации.</a:t>
            </a:r>
          </a:p>
          <a:p>
            <a:pPr>
              <a:spcAft>
                <a:spcPts val="700"/>
              </a:spcAft>
            </a:pPr>
            <a:r>
              <a:rPr sz="1200" b="1">
                <a:solidFill>
                  <a:srgbClr val="8C2D54"/>
                </a:solidFill>
                <a:latin typeface="Calibri"/>
              </a:rPr>
              <a:t>Формула графа В.А. Соллогуба: </a:t>
            </a:r>
            <a:r>
              <a:rPr sz="1200">
                <a:solidFill>
                  <a:srgbClr val="2A1B22"/>
                </a:solidFill>
                <a:latin typeface="Calibri"/>
              </a:rPr>
              <a:t>«В то время любовь к детям не пересаливали. Они держались в духе подобострастия, чуть ли не крепостного права, и чувствовали, что они созданы для родителей, а не родители для них».</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D97706"/>
                </a:solidFill>
                <a:latin typeface="Arial"/>
              </a:defRPr>
            </a:pPr>
            <a:r>
              <a:t>РОДИТЕЛЬСКАЯ ЛЮБОВЬ | ПРИМЕРЫ ЗАБОТЫ</a:t>
            </a:r>
          </a:p>
        </p:txBody>
      </p:sp>
      <p:sp>
        <p:nvSpPr>
          <p:cNvPr id="3" name="TextBox 2"/>
          <p:cNvSpPr txBox="1"/>
          <p:nvPr/>
        </p:nvSpPr>
        <p:spPr>
          <a:xfrm>
            <a:off x="731520" y="685800"/>
            <a:ext cx="10698480" cy="777240"/>
          </a:xfrm>
          <a:prstGeom prst="rect">
            <a:avLst/>
          </a:prstGeom>
          <a:noFill/>
        </p:spPr>
        <p:txBody>
          <a:bodyPr wrap="none">
            <a:spAutoFit/>
          </a:bodyPr>
          <a:lstStyle/>
          <a:p>
            <a:pPr>
              <a:defRPr sz="2100" b="1">
                <a:solidFill>
                  <a:srgbClr val="5B1A3A"/>
                </a:solidFill>
                <a:latin typeface="Georgia"/>
              </a:defRPr>
            </a:pPr>
            <a:r>
              <a:t>Полюс глубокой привязанности: отцовская нежность и подвижничество</a:t>
            </a:r>
          </a:p>
        </p:txBody>
      </p:sp>
      <p:sp>
        <p:nvSpPr>
          <p:cNvPr id="4" name="Rounded Rectangle 3"/>
          <p:cNvSpPr/>
          <p:nvPr/>
        </p:nvSpPr>
        <p:spPr>
          <a:xfrm>
            <a:off x="7772400" y="1600200"/>
            <a:ext cx="3657600" cy="4663440"/>
          </a:xfrm>
          <a:prstGeom prst="roundRect">
            <a:avLst/>
          </a:prstGeom>
          <a:solidFill>
            <a:srgbClr val="FAF5F7"/>
          </a:solidFill>
          <a:ln w="12700">
            <a:solidFill>
              <a:srgbClr val="DDB8C7"/>
            </a:solidFill>
          </a:ln>
        </p:spPr>
        <p:style>
          <a:lnRef idx="1">
            <a:schemeClr val="accent1"/>
          </a:lnRef>
          <a:fillRef idx="3">
            <a:schemeClr val="accent1"/>
          </a:fillRef>
          <a:effectRef idx="2">
            <a:schemeClr val="accent1"/>
          </a:effectRef>
          <a:fontRef idx="minor">
            <a:schemeClr val="lt1"/>
          </a:fontRef>
        </p:style>
        <p:txBody>
          <a:bodyPr rtlCol="0" anchor="ctr" wrap="square" tIns="228600" lIns="274320" rIns="274320" bIns="228600"/>
          <a:lstStyle/>
          <a:p>
            <a:pPr algn="ctr">
              <a:spcAft>
                <a:spcPts val="600"/>
              </a:spcAft>
              <a:defRPr sz="1150" b="1">
                <a:solidFill>
                  <a:srgbClr val="5B1A3A"/>
                </a:solidFill>
                <a:latin typeface="Arial"/>
              </a:defRPr>
            </a:pPr>
            <a:r>
              <a:t>Забота матери-вдовы (А.И. Дельвиг)</a:t>
            </a:r>
          </a:p>
          <a:p>
            <a:pPr>
              <a:defRPr sz="1000" i="1">
                <a:solidFill>
                  <a:srgbClr val="2A1B22"/>
                </a:solidFill>
                <a:latin typeface="Calibri"/>
              </a:defRPr>
            </a:pPr>
            <a:r>
              <a:t>Мать Дельвига, оставшись в 26 лет вдовой с четырьмя сиротами без средств, смогла дать всем блестящее образование и воспитать нравственных людей, начав учить их арифметике с ранних лет.</a:t>
            </a:r>
          </a:p>
        </p:txBody>
      </p:sp>
      <p:sp>
        <p:nvSpPr>
          <p:cNvPr id="5" name="TextBox 4"/>
          <p:cNvSpPr txBox="1"/>
          <p:nvPr/>
        </p:nvSpPr>
        <p:spPr>
          <a:xfrm>
            <a:off x="731520" y="1600200"/>
            <a:ext cx="6766560" cy="4663440"/>
          </a:xfrm>
          <a:prstGeom prst="rect">
            <a:avLst/>
          </a:prstGeom>
          <a:noFill/>
        </p:spPr>
        <p:txBody>
          <a:bodyPr wrap="square">
            <a:spAutoFit/>
          </a:bodyPr>
          <a:lstStyle/>
          <a:p>
            <a:pPr>
              <a:spcAft>
                <a:spcPts val="700"/>
              </a:spcAft>
            </a:pPr>
            <a:r>
              <a:rPr sz="1200" b="1">
                <a:solidFill>
                  <a:srgbClr val="8C2D54"/>
                </a:solidFill>
                <a:latin typeface="Calibri"/>
              </a:rPr>
              <a:t>Уникальный дневник декабриста С.П. Трубецкого: </a:t>
            </a:r>
            <a:r>
              <a:rPr sz="1200">
                <a:solidFill>
                  <a:srgbClr val="2A1B22"/>
                </a:solidFill>
                <a:latin typeface="Calibri"/>
              </a:rPr>
              <a:t>В сибирской ссылке князь Трубецкой вел дневник, целиком посвященный детям: дежурил ночами у колыбели больных Лизы и Никиты, фиксировал характер каждого ребенка, сам обучал их грамоте.</a:t>
            </a:r>
          </a:p>
          <a:p>
            <a:pPr>
              <a:spcAft>
                <a:spcPts val="700"/>
              </a:spcAft>
            </a:pPr>
            <a:r>
              <a:rPr sz="1200" b="1">
                <a:solidFill>
                  <a:srgbClr val="8C2D54"/>
                </a:solidFill>
                <a:latin typeface="Calibri"/>
              </a:rPr>
              <a:t>Граф Д.Н. Шереметев: </a:t>
            </a:r>
            <a:r>
              <a:rPr sz="1200">
                <a:solidFill>
                  <a:srgbClr val="2A1B22"/>
                </a:solidFill>
                <a:latin typeface="Calibri"/>
              </a:rPr>
              <a:t>Потеряв первенца и жену, окружил сына Сергея фанатичной опекой: лично составил правила безопасности (запрет лазить по деревьям, сидеть на окнах, резвиться у зеркал и печей) и приучал к милосердию.</a:t>
            </a:r>
          </a:p>
          <a:p>
            <a:pPr>
              <a:spcAft>
                <a:spcPts val="700"/>
              </a:spcAft>
            </a:pPr>
            <a:r>
              <a:rPr sz="1200" b="1">
                <a:solidFill>
                  <a:srgbClr val="8C2D54"/>
                </a:solidFill>
                <a:latin typeface="Calibri"/>
              </a:rPr>
              <a:t>Граф М.Д. Бутурлин: </a:t>
            </a:r>
            <a:r>
              <a:rPr sz="1200">
                <a:solidFill>
                  <a:srgbClr val="2A1B22"/>
                </a:solidFill>
                <a:latin typeface="Calibri"/>
              </a:rPr>
              <a:t>С нежностью описывал раннюю одаренность дочери Аннетины, свободно говорившей по-русски и по-итальянски и аплодировавшей солнечному лучу («bravo sole, bravo!»).</a:t>
            </a:r>
          </a:p>
          <a:p>
            <a:pPr>
              <a:spcAft>
                <a:spcPts val="700"/>
              </a:spcAft>
            </a:pPr>
            <a:r>
              <a:rPr sz="1200" b="1">
                <a:solidFill>
                  <a:srgbClr val="8C2D54"/>
                </a:solidFill>
                <a:latin typeface="Calibri"/>
              </a:rPr>
              <a:t>Князь П.Н. Оболенский: </a:t>
            </a:r>
            <a:r>
              <a:rPr sz="1200">
                <a:solidFill>
                  <a:srgbClr val="2A1B22"/>
                </a:solidFill>
                <a:latin typeface="Calibri"/>
              </a:rPr>
              <a:t>Вникал во все девичьи горести и нужды дочерей, заменяя им самую ласковую мать, когда строгие гувернантки наказывали девочек.</a:t>
            </a:r>
          </a:p>
          <a:p>
            <a:pPr>
              <a:spcAft>
                <a:spcPts val="700"/>
              </a:spcAft>
            </a:pPr>
            <a:r>
              <a:rPr sz="1200" b="1">
                <a:solidFill>
                  <a:srgbClr val="8C2D54"/>
                </a:solidFill>
                <a:latin typeface="Calibri"/>
              </a:rPr>
              <a:t>Император Павел I: </a:t>
            </a:r>
            <a:r>
              <a:rPr sz="1200">
                <a:solidFill>
                  <a:srgbClr val="2A1B22"/>
                </a:solidFill>
                <a:latin typeface="Calibri"/>
              </a:rPr>
              <a:t>В домашнем кругу проявлял невероятную нежность: звал детей «мои барашки», «мои овечки», лично баловал их и дарил золоченые коляски с шотландскими пони.</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D97706"/>
                </a:solidFill>
                <a:latin typeface="Arial"/>
              </a:defRPr>
            </a:pPr>
            <a:r>
              <a:t>ПЕДАГОГИЧЕСКИЙ ДЕСПОТИЗМ | ФАВОРИТИЗМ</a:t>
            </a:r>
          </a:p>
        </p:txBody>
      </p:sp>
      <p:sp>
        <p:nvSpPr>
          <p:cNvPr id="3" name="TextBox 2"/>
          <p:cNvSpPr txBox="1"/>
          <p:nvPr/>
        </p:nvSpPr>
        <p:spPr>
          <a:xfrm>
            <a:off x="731520" y="685800"/>
            <a:ext cx="10698480" cy="777240"/>
          </a:xfrm>
          <a:prstGeom prst="rect">
            <a:avLst/>
          </a:prstGeom>
          <a:noFill/>
        </p:spPr>
        <p:txBody>
          <a:bodyPr wrap="none">
            <a:spAutoFit/>
          </a:bodyPr>
          <a:lstStyle/>
          <a:p>
            <a:pPr>
              <a:defRPr sz="2100" b="1">
                <a:solidFill>
                  <a:srgbClr val="5B1A3A"/>
                </a:solidFill>
                <a:latin typeface="Georgia"/>
              </a:defRPr>
            </a:pPr>
            <a:r>
              <a:t>Полюс суровости: спартанское закаливание, домашний деспотизм и фаворитизм</a:t>
            </a:r>
          </a:p>
        </p:txBody>
      </p:sp>
      <p:sp>
        <p:nvSpPr>
          <p:cNvPr id="4" name="Rounded Rectangle 3"/>
          <p:cNvSpPr/>
          <p:nvPr/>
        </p:nvSpPr>
        <p:spPr>
          <a:xfrm>
            <a:off x="7772400" y="1600200"/>
            <a:ext cx="3657600" cy="4663440"/>
          </a:xfrm>
          <a:prstGeom prst="roundRect">
            <a:avLst/>
          </a:prstGeom>
          <a:solidFill>
            <a:srgbClr val="FAF5F7"/>
          </a:solidFill>
          <a:ln w="12700">
            <a:solidFill>
              <a:srgbClr val="DDB8C7"/>
            </a:solidFill>
          </a:ln>
        </p:spPr>
        <p:style>
          <a:lnRef idx="1">
            <a:schemeClr val="accent1"/>
          </a:lnRef>
          <a:fillRef idx="3">
            <a:schemeClr val="accent1"/>
          </a:fillRef>
          <a:effectRef idx="2">
            <a:schemeClr val="accent1"/>
          </a:effectRef>
          <a:fontRef idx="minor">
            <a:schemeClr val="lt1"/>
          </a:fontRef>
        </p:style>
        <p:txBody>
          <a:bodyPr rtlCol="0" anchor="ctr" wrap="square" tIns="228600" lIns="274320" rIns="274320" bIns="228600"/>
          <a:lstStyle/>
          <a:p>
            <a:pPr algn="ctr">
              <a:spcAft>
                <a:spcPts val="600"/>
              </a:spcAft>
              <a:defRPr sz="1150" b="1">
                <a:solidFill>
                  <a:srgbClr val="5B1A3A"/>
                </a:solidFill>
                <a:latin typeface="Arial"/>
              </a:defRPr>
            </a:pPr>
            <a:r>
              <a:t>Уроки латыни у Достоевских</a:t>
            </a:r>
          </a:p>
          <a:p>
            <a:pPr>
              <a:defRPr sz="1000" i="1">
                <a:solidFill>
                  <a:srgbClr val="2A1B22"/>
                </a:solidFill>
                <a:latin typeface="Calibri"/>
              </a:defRPr>
            </a:pPr>
            <a:r>
              <a:t>Отец Ф.М. Достоевского занимался с сыновьями латынью: мальчики стояли по часу как истуканчики, боясь присесть или облокотиться на стол, замирая от страха при малейшем окрике вспыльчивого отца.</a:t>
            </a:r>
          </a:p>
        </p:txBody>
      </p:sp>
      <p:sp>
        <p:nvSpPr>
          <p:cNvPr id="5" name="TextBox 4"/>
          <p:cNvSpPr txBox="1"/>
          <p:nvPr/>
        </p:nvSpPr>
        <p:spPr>
          <a:xfrm>
            <a:off x="731520" y="1600200"/>
            <a:ext cx="6766560" cy="4663440"/>
          </a:xfrm>
          <a:prstGeom prst="rect">
            <a:avLst/>
          </a:prstGeom>
          <a:noFill/>
        </p:spPr>
        <p:txBody>
          <a:bodyPr wrap="square">
            <a:spAutoFit/>
          </a:bodyPr>
          <a:lstStyle/>
          <a:p>
            <a:pPr>
              <a:spcAft>
                <a:spcPts val="700"/>
              </a:spcAft>
            </a:pPr>
            <a:r>
              <a:rPr sz="1200" b="1">
                <a:solidFill>
                  <a:srgbClr val="8C2D54"/>
                </a:solidFill>
                <a:latin typeface="Calibri"/>
              </a:rPr>
              <a:t>Спартанское закаливание П.А. Вяземского: </a:t>
            </a:r>
            <a:r>
              <a:rPr sz="1200">
                <a:solidFill>
                  <a:srgbClr val="2A1B22"/>
                </a:solidFill>
                <a:latin typeface="Calibri"/>
              </a:rPr>
              <a:t>Отец, стремясь вытравить из сына робость, бросал мальчика барахтаться одного в Остафьевский пруд и посылал глубокой ночью одного в темную рощу.</a:t>
            </a:r>
          </a:p>
          <a:p>
            <a:pPr>
              <a:spcAft>
                <a:spcPts val="700"/>
              </a:spcAft>
            </a:pPr>
            <a:r>
              <a:rPr sz="1200" b="1">
                <a:solidFill>
                  <a:srgbClr val="8C2D54"/>
                </a:solidFill>
                <a:latin typeface="Calibri"/>
              </a:rPr>
              <a:t>Деспотизм Н.П. Воейкова: </a:t>
            </a:r>
            <a:r>
              <a:rPr sz="1200">
                <a:solidFill>
                  <a:srgbClr val="2A1B22"/>
                </a:solidFill>
                <a:latin typeface="Calibri"/>
              </a:rPr>
              <a:t>Если 5-летняя болезненная дочь начинала плакать, отец, чтобы заставить ее замолчать, выливал ей на голову ведро ледяной воды. Дети панически боялись отца.</a:t>
            </a:r>
          </a:p>
          <a:p>
            <a:pPr>
              <a:spcAft>
                <a:spcPts val="700"/>
              </a:spcAft>
            </a:pPr>
            <a:r>
              <a:rPr sz="1200" b="1">
                <a:solidFill>
                  <a:srgbClr val="8C2D54"/>
                </a:solidFill>
                <a:latin typeface="Calibri"/>
              </a:rPr>
              <a:t>Граф Алексей Орлов-Чесменский: </a:t>
            </a:r>
            <a:r>
              <a:rPr sz="1200">
                <a:solidFill>
                  <a:srgbClr val="2A1B22"/>
                </a:solidFill>
                <a:latin typeface="Calibri"/>
              </a:rPr>
              <a:t>Выражая почтение к дорогим гостям, заставлял свою дочь графиню Анну мыть полы на их глазах — перечить отцу она не смела.</a:t>
            </a:r>
          </a:p>
          <a:p>
            <a:pPr>
              <a:spcAft>
                <a:spcPts val="700"/>
              </a:spcAft>
            </a:pPr>
            <a:r>
              <a:rPr sz="1200" b="1">
                <a:solidFill>
                  <a:srgbClr val="8C2D54"/>
                </a:solidFill>
                <a:latin typeface="Calibri"/>
              </a:rPr>
              <a:t>Публичные пощечины (А.Е. Боборыкина): </a:t>
            </a:r>
            <a:r>
              <a:rPr sz="1200">
                <a:solidFill>
                  <a:srgbClr val="2A1B22"/>
                </a:solidFill>
                <a:latin typeface="Calibri"/>
              </a:rPr>
              <a:t>Светская дама на виду у всего общества прилюдно дала пощечину взрослой дочери Полине за малейшую провинность, навсегда разрушив доверие.</a:t>
            </a:r>
          </a:p>
          <a:p>
            <a:pPr>
              <a:spcAft>
                <a:spcPts val="700"/>
              </a:spcAft>
            </a:pPr>
            <a:r>
              <a:rPr sz="1200" b="1">
                <a:solidFill>
                  <a:srgbClr val="8C2D54"/>
                </a:solidFill>
                <a:latin typeface="Calibri"/>
              </a:rPr>
              <a:t>Фаворитизм в семье И.П. Бибикова: </a:t>
            </a:r>
            <a:r>
              <a:rPr sz="1200">
                <a:solidFill>
                  <a:srgbClr val="2A1B22"/>
                </a:solidFill>
                <a:latin typeface="Calibri"/>
              </a:rPr>
              <a:t>Отец и мать открыто провозглашали: «Mes filles sont des anges, et mes fils de la chair au canon» («Дочери — ангелы, а сыновья — пушечное мясо»).</a:t>
            </a:r>
          </a:p>
          <a:p>
            <a:pPr>
              <a:spcAft>
                <a:spcPts val="700"/>
              </a:spcAft>
            </a:pPr>
            <a:r>
              <a:rPr sz="1200" b="1">
                <a:solidFill>
                  <a:srgbClr val="8C2D54"/>
                </a:solidFill>
                <a:latin typeface="Calibri"/>
              </a:rPr>
              <a:t>Травма отверженных детей: </a:t>
            </a:r>
            <a:r>
              <a:rPr sz="1200">
                <a:solidFill>
                  <a:srgbClr val="2A1B22"/>
                </a:solidFill>
                <a:latin typeface="Calibri"/>
              </a:rPr>
              <a:t>И.М. Виельгорский в дневнике мучительно переживал холодность матери и ревновал ее к братьям; в литературе — судьба нелюбимой Веры Ростовой у Толстого.</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D97706"/>
                </a:solidFill>
                <a:latin typeface="Arial"/>
              </a:defRPr>
            </a:pPr>
            <a:r>
              <a:t>ИНСТИТУТ ВОСПИТАННИЦ | ПЕРЕПИСКА</a:t>
            </a:r>
          </a:p>
        </p:txBody>
      </p:sp>
      <p:sp>
        <p:nvSpPr>
          <p:cNvPr id="3" name="TextBox 2"/>
          <p:cNvSpPr txBox="1"/>
          <p:nvPr/>
        </p:nvSpPr>
        <p:spPr>
          <a:xfrm>
            <a:off x="731520" y="685800"/>
            <a:ext cx="10698480" cy="777240"/>
          </a:xfrm>
          <a:prstGeom prst="rect">
            <a:avLst/>
          </a:prstGeom>
          <a:noFill/>
        </p:spPr>
        <p:txBody>
          <a:bodyPr wrap="none">
            <a:spAutoFit/>
          </a:bodyPr>
          <a:lstStyle/>
          <a:p>
            <a:pPr>
              <a:defRPr sz="2100" b="1">
                <a:solidFill>
                  <a:srgbClr val="5B1A3A"/>
                </a:solidFill>
                <a:latin typeface="Georgia"/>
              </a:defRPr>
            </a:pPr>
            <a:r>
              <a:t>Родовая опека сирот и культура семейной переписки</a:t>
            </a:r>
          </a:p>
        </p:txBody>
      </p:sp>
      <p:sp>
        <p:nvSpPr>
          <p:cNvPr id="4" name="Rounded Rectangle 3"/>
          <p:cNvSpPr/>
          <p:nvPr/>
        </p:nvSpPr>
        <p:spPr>
          <a:xfrm>
            <a:off x="7772400" y="1600200"/>
            <a:ext cx="3657600" cy="4663440"/>
          </a:xfrm>
          <a:prstGeom prst="roundRect">
            <a:avLst/>
          </a:prstGeom>
          <a:solidFill>
            <a:srgbClr val="FAF5F7"/>
          </a:solidFill>
          <a:ln w="12700">
            <a:solidFill>
              <a:srgbClr val="DDB8C7"/>
            </a:solidFill>
          </a:ln>
        </p:spPr>
        <p:style>
          <a:lnRef idx="1">
            <a:schemeClr val="accent1"/>
          </a:lnRef>
          <a:fillRef idx="3">
            <a:schemeClr val="accent1"/>
          </a:fillRef>
          <a:effectRef idx="2">
            <a:schemeClr val="accent1"/>
          </a:effectRef>
          <a:fontRef idx="minor">
            <a:schemeClr val="lt1"/>
          </a:fontRef>
        </p:style>
        <p:txBody>
          <a:bodyPr rtlCol="0" anchor="ctr" wrap="square" tIns="228600" lIns="274320" rIns="274320" bIns="228600"/>
          <a:lstStyle/>
          <a:p>
            <a:pPr algn="ctr">
              <a:spcAft>
                <a:spcPts val="600"/>
              </a:spcAft>
              <a:defRPr sz="1150" b="1">
                <a:solidFill>
                  <a:srgbClr val="5B1A3A"/>
                </a:solidFill>
                <a:latin typeface="Arial"/>
              </a:defRPr>
            </a:pPr>
            <a:r>
              <a:t>А.И. Дельвиг и племянник Рудзевич</a:t>
            </a:r>
          </a:p>
          <a:p>
            <a:pPr>
              <a:defRPr sz="1000" i="1">
                <a:solidFill>
                  <a:srgbClr val="2A1B22"/>
                </a:solidFill>
                <a:latin typeface="Calibri"/>
              </a:defRPr>
            </a:pPr>
            <a:r>
              <a:t>Дельвиг взял в семью 17-летнего сына овдовевшей кузины, едва знавшего грамоту, и упорным домашним трудом подготовил его к сдаче экзамена на офицерский чин юнкера.</a:t>
            </a:r>
          </a:p>
        </p:txBody>
      </p:sp>
      <p:sp>
        <p:nvSpPr>
          <p:cNvPr id="5" name="TextBox 4"/>
          <p:cNvSpPr txBox="1"/>
          <p:nvPr/>
        </p:nvSpPr>
        <p:spPr>
          <a:xfrm>
            <a:off x="731520" y="1600200"/>
            <a:ext cx="6766560" cy="4663440"/>
          </a:xfrm>
          <a:prstGeom prst="rect">
            <a:avLst/>
          </a:prstGeom>
          <a:noFill/>
        </p:spPr>
        <p:txBody>
          <a:bodyPr wrap="square">
            <a:spAutoFit/>
          </a:bodyPr>
          <a:lstStyle/>
          <a:p>
            <a:pPr>
              <a:spcAft>
                <a:spcPts val="700"/>
              </a:spcAft>
            </a:pPr>
            <a:r>
              <a:rPr sz="1200" b="1">
                <a:solidFill>
                  <a:srgbClr val="8C2D54"/>
                </a:solidFill>
                <a:latin typeface="Calibri"/>
              </a:rPr>
              <a:t>Институт бедных воспитанниц: </a:t>
            </a:r>
            <a:r>
              <a:rPr sz="1200">
                <a:solidFill>
                  <a:srgbClr val="2A1B22"/>
                </a:solidFill>
                <a:latin typeface="Calibri"/>
              </a:rPr>
              <a:t>Дворянская корпорация не бросала сирот: в доме И.А. Пашкова жило целое общежитие бедных племянников и провинциальной родни.</a:t>
            </a:r>
          </a:p>
          <a:p>
            <a:pPr>
              <a:spcAft>
                <a:spcPts val="700"/>
              </a:spcAft>
            </a:pPr>
            <a:r>
              <a:rPr sz="1200" b="1">
                <a:solidFill>
                  <a:srgbClr val="8C2D54"/>
                </a:solidFill>
                <a:latin typeface="Calibri"/>
              </a:rPr>
              <a:t>Психологический статус воспитанницы: </a:t>
            </a:r>
            <a:r>
              <a:rPr sz="1200">
                <a:solidFill>
                  <a:srgbClr val="2A1B22"/>
                </a:solidFill>
                <a:latin typeface="Calibri"/>
              </a:rPr>
              <a:t>А.С. Пушкин в «Пиковой даме» (образ Лизаветы Ивановны) и В.А. Вонлярлярский показали двусмысленное положение бедной воспитанницы — служанка, компаньонка и громоотвод для капризов знатной старухи.</a:t>
            </a:r>
          </a:p>
          <a:p>
            <a:pPr>
              <a:spcAft>
                <a:spcPts val="700"/>
              </a:spcAft>
            </a:pPr>
            <a:r>
              <a:rPr sz="1200" b="1">
                <a:solidFill>
                  <a:srgbClr val="8C2D54"/>
                </a:solidFill>
                <a:latin typeface="Calibri"/>
              </a:rPr>
              <a:t>Благородное покровительство: </a:t>
            </a:r>
            <a:r>
              <a:rPr sz="1200">
                <a:solidFill>
                  <a:srgbClr val="2A1B22"/>
                </a:solidFill>
                <a:latin typeface="Calibri"/>
              </a:rPr>
              <a:t>Певица графиня Е.П. Риччи удочерила Лизу Нащокину, воспитала как родную, дала приданое, а внуки звали ее «графиня-бабушка».</a:t>
            </a:r>
          </a:p>
          <a:p>
            <a:pPr>
              <a:spcAft>
                <a:spcPts val="700"/>
              </a:spcAft>
            </a:pPr>
            <a:r>
              <a:rPr sz="1200" b="1">
                <a:solidFill>
                  <a:srgbClr val="8C2D54"/>
                </a:solidFill>
                <a:latin typeface="Calibri"/>
              </a:rPr>
              <a:t>Интимная ономастика (семейные прозвища): </a:t>
            </a:r>
            <a:r>
              <a:rPr sz="1200">
                <a:solidFill>
                  <a:srgbClr val="2A1B22"/>
                </a:solidFill>
                <a:latin typeface="Calibri"/>
              </a:rPr>
              <a:t>Л.Н. Толстой — «Левка-пузырь», великие князья — «Низи», «Оли», «Адини», Ростопчина — «Додо», Герцен — «Шушка», Печорин — «Жорж», Павел Вяземский — «душа моя Павел».</a:t>
            </a:r>
          </a:p>
          <a:p>
            <a:pPr>
              <a:spcAft>
                <a:spcPts val="700"/>
              </a:spcAft>
            </a:pPr>
            <a:r>
              <a:rPr sz="1200" b="1">
                <a:solidFill>
                  <a:srgbClr val="8C2D54"/>
                </a:solidFill>
                <a:latin typeface="Calibri"/>
              </a:rPr>
              <a:t>Эпистолярный канон и искренние чувства: </a:t>
            </a:r>
            <a:r>
              <a:rPr sz="1200">
                <a:solidFill>
                  <a:srgbClr val="2A1B22"/>
                </a:solidFill>
                <a:latin typeface="Calibri"/>
              </a:rPr>
              <a:t>Письма детей родителям требовали строгих клише («целую ручки», «прошу благословения»). Но сквозь этикет прорывалась детская тоска: Ольга Воеводская писала: «Душечка, ангел мой Мамаша! Приезжайте ради Бога ко мне, я всякую минуту тоскую об вас!»</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none">
            <a:spAutoFit/>
          </a:bodyPr>
          <a:lstStyle/>
          <a:p>
            <a:pPr>
              <a:defRPr sz="1000" b="1">
                <a:solidFill>
                  <a:srgbClr val="D97706"/>
                </a:solidFill>
                <a:latin typeface="Arial"/>
              </a:defRPr>
            </a:pPr>
            <a:r>
              <a:t>ВЫВОДЫ ДОКЛАДА | ГРУППА 3</a:t>
            </a:r>
          </a:p>
        </p:txBody>
      </p:sp>
      <p:sp>
        <p:nvSpPr>
          <p:cNvPr id="3" name="TextBox 2"/>
          <p:cNvSpPr txBox="1"/>
          <p:nvPr/>
        </p:nvSpPr>
        <p:spPr>
          <a:xfrm>
            <a:off x="731520" y="685800"/>
            <a:ext cx="10698480" cy="777240"/>
          </a:xfrm>
          <a:prstGeom prst="rect">
            <a:avLst/>
          </a:prstGeom>
          <a:noFill/>
        </p:spPr>
        <p:txBody>
          <a:bodyPr wrap="none">
            <a:spAutoFit/>
          </a:bodyPr>
          <a:lstStyle/>
          <a:p>
            <a:pPr>
              <a:defRPr sz="2100" b="1">
                <a:solidFill>
                  <a:srgbClr val="5B1A3A"/>
                </a:solidFill>
                <a:latin typeface="Georgia"/>
              </a:defRPr>
            </a:pPr>
            <a:r>
              <a:t>Итоги исследования: диалектика патриархальной власти и эмоциональной близости</a:t>
            </a:r>
          </a:p>
        </p:txBody>
      </p:sp>
      <p:sp>
        <p:nvSpPr>
          <p:cNvPr id="4" name="Rounded Rectangle 3"/>
          <p:cNvSpPr/>
          <p:nvPr/>
        </p:nvSpPr>
        <p:spPr>
          <a:xfrm>
            <a:off x="7772400" y="1600200"/>
            <a:ext cx="3657600" cy="4663440"/>
          </a:xfrm>
          <a:prstGeom prst="roundRect">
            <a:avLst/>
          </a:prstGeom>
          <a:solidFill>
            <a:srgbClr val="FAF5F7"/>
          </a:solidFill>
          <a:ln w="12700">
            <a:solidFill>
              <a:srgbClr val="DDB8C7"/>
            </a:solidFill>
          </a:ln>
        </p:spPr>
        <p:style>
          <a:lnRef idx="1">
            <a:schemeClr val="accent1"/>
          </a:lnRef>
          <a:fillRef idx="3">
            <a:schemeClr val="accent1"/>
          </a:fillRef>
          <a:effectRef idx="2">
            <a:schemeClr val="accent1"/>
          </a:effectRef>
          <a:fontRef idx="minor">
            <a:schemeClr val="lt1"/>
          </a:fontRef>
        </p:style>
        <p:txBody>
          <a:bodyPr rtlCol="0" anchor="ctr" wrap="square" tIns="228600" lIns="274320" rIns="274320" bIns="228600"/>
          <a:lstStyle/>
          <a:p>
            <a:pPr algn="ctr">
              <a:spcAft>
                <a:spcPts val="600"/>
              </a:spcAft>
              <a:defRPr sz="1150" b="1">
                <a:solidFill>
                  <a:srgbClr val="5B1A3A"/>
                </a:solidFill>
                <a:latin typeface="Arial"/>
              </a:defRPr>
            </a:pPr>
            <a:r>
              <a:t>Главный вывод</a:t>
            </a:r>
          </a:p>
          <a:p>
            <a:pPr>
              <a:defRPr sz="1000" i="1">
                <a:solidFill>
                  <a:srgbClr val="2A1B22"/>
                </a:solidFill>
                <a:latin typeface="Calibri"/>
              </a:defRPr>
            </a:pPr>
            <a:r>
              <a:t>Дворянская семья XIX века переживала переход от авторитарно-патриархального сословного клана к эмоционально спаянному союзу любящих личностей, сохранив при этом незыблемый авторитет старшего поколения.</a:t>
            </a:r>
          </a:p>
        </p:txBody>
      </p:sp>
      <p:sp>
        <p:nvSpPr>
          <p:cNvPr id="5" name="TextBox 4"/>
          <p:cNvSpPr txBox="1"/>
          <p:nvPr/>
        </p:nvSpPr>
        <p:spPr>
          <a:xfrm>
            <a:off x="731520" y="1600200"/>
            <a:ext cx="6766560" cy="4663440"/>
          </a:xfrm>
          <a:prstGeom prst="rect">
            <a:avLst/>
          </a:prstGeom>
          <a:noFill/>
        </p:spPr>
        <p:txBody>
          <a:bodyPr wrap="square">
            <a:spAutoFit/>
          </a:bodyPr>
          <a:lstStyle/>
          <a:p>
            <a:pPr>
              <a:spcAft>
                <a:spcPts val="700"/>
              </a:spcAft>
            </a:pPr>
            <a:r>
              <a:rPr sz="1200" b="1">
                <a:solidFill>
                  <a:srgbClr val="8C2D54"/>
                </a:solidFill>
                <a:latin typeface="Calibri"/>
              </a:rPr>
              <a:t>1. Структурная иерархия: </a:t>
            </a:r>
            <a:r>
              <a:rPr sz="1200">
                <a:solidFill>
                  <a:srgbClr val="2A1B22"/>
                </a:solidFill>
                <a:latin typeface="Calibri"/>
              </a:rPr>
              <a:t>Дворянская семья строилась на принципах безусловного повиновения родительской воле и пространственной сегрегации поколений.</a:t>
            </a:r>
          </a:p>
          <a:p>
            <a:pPr>
              <a:spcAft>
                <a:spcPts val="700"/>
              </a:spcAft>
            </a:pPr>
            <a:r>
              <a:rPr sz="1200" b="1">
                <a:solidFill>
                  <a:srgbClr val="8C2D54"/>
                </a:solidFill>
                <a:latin typeface="Calibri"/>
              </a:rPr>
              <a:t>2. Индивидуализация родительского этоса: </a:t>
            </a:r>
            <a:r>
              <a:rPr sz="1200">
                <a:solidFill>
                  <a:srgbClr val="2A1B22"/>
                </a:solidFill>
                <a:latin typeface="Calibri"/>
              </a:rPr>
              <a:t>Отношение к детям колебалось в широчайшем диапазоне: от уникальных образцов самоотверженной отцовской заботы (Трубецкой) до тирании и спартанской жесткости (Воейков, Вяземский).</a:t>
            </a:r>
          </a:p>
          <a:p>
            <a:pPr>
              <a:spcAft>
                <a:spcPts val="700"/>
              </a:spcAft>
            </a:pPr>
            <a:r>
              <a:rPr sz="1200" b="1">
                <a:solidFill>
                  <a:srgbClr val="8C2D54"/>
                </a:solidFill>
                <a:latin typeface="Calibri"/>
              </a:rPr>
              <a:t>3. Корпоративная солидарность: </a:t>
            </a:r>
            <a:r>
              <a:rPr sz="1200">
                <a:solidFill>
                  <a:srgbClr val="2A1B22"/>
                </a:solidFill>
                <a:latin typeface="Calibri"/>
              </a:rPr>
              <a:t>Институт воспитанничества служил страховочной сеткой для обедневших ветвей дворянского сословия.</a:t>
            </a:r>
          </a:p>
          <a:p>
            <a:pPr>
              <a:spcAft>
                <a:spcPts val="700"/>
              </a:spcAft>
            </a:pPr>
            <a:r>
              <a:rPr sz="1200" b="1">
                <a:solidFill>
                  <a:srgbClr val="8C2D54"/>
                </a:solidFill>
                <a:latin typeface="Calibri"/>
              </a:rPr>
              <a:t>4. Эпистолярная культура: </a:t>
            </a:r>
            <a:r>
              <a:rPr sz="1200">
                <a:solidFill>
                  <a:srgbClr val="2A1B22"/>
                </a:solidFill>
                <a:latin typeface="Calibri"/>
              </a:rPr>
              <a:t>Письма являлись ключевым инструментом воспитания чувств, сочетая строгие формулы светского политеса с формированием эмоциональной привязанности.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