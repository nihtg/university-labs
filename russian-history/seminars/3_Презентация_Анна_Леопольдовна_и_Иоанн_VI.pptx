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Заметки для доклада:</a:t>
            </a:r>
          </a:p>
          <a:p>
            <a:r>
              <a:t>Период с октября 1740 по ноябрь 1741 года традиционно называют «безвременьем». Каменский детально анализирует этот год: законодательная деятельность не прекращалась (более 185 актов). Началась она с популистских мер Бирона.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Заметки для доклада:</a:t>
            </a:r>
          </a:p>
          <a:p>
            <a:r>
              <a:t>Каменский подчеркивает: курс правительства сохранял преемственность. Принят европейский Устав о банкротстве, регулировалась суконная промышленность, поощрялось каменное строительство в городах.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Заметки для доклада:</a:t>
            </a:r>
          </a:p>
          <a:p>
            <a:r>
              <a:t>Правительство пыталось бороться с извечным злом — судебной волокитой и мздоимством. Были введены штрафы чиновникам и учреждена специальная комиссия по залежавшимся делам.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Заметки для доклада:</a:t>
            </a:r>
          </a:p>
          <a:p>
            <a:r>
              <a:t>Вот в чем главная трагедия режима Брауншвейгов по Каменскому: петровская система требовала волевого самодержца. Анна Леопольдовна не умела править сама, но и не отдавала власть министрам. Государственная машина забуксовала, и переворот Елизаветы стал закономерным финалом.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C08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08A27"/>
                </a:solidFill>
                <a:latin typeface="Arial"/>
              </a:defRPr>
            </a:pPr>
            <a:r>
              <a:t>ИСТОРИЯ РОССИИ | СЕМИНАР 1 | ЭПОХА ДВОРЦОВЫХ ПЕРЕВОРОТОВ (1725–1762)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365D"/>
                </a:solidFill>
                <a:latin typeface="Georgia"/>
              </a:defRPr>
            </a:pPr>
            <a:r>
              <a:t>Анна Леопольдовна и Иоанн VI (1740–1741 гг.):</a:t>
            </a:r>
            <a:br/>
            <a:r>
              <a:t>Год безвременья и пробуксовка петровской государственной машины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B6CB0"/>
                </a:solidFill>
                <a:latin typeface="Calibri"/>
              </a:defRPr>
            </a:pPr>
            <a:r>
              <a:t>Регентство Бирона, кабинет Остермана и причины падения Брауншвейгской династии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754880"/>
            <a:ext cx="10058400" cy="2743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22222"/>
                </a:solidFill>
                <a:latin typeface="Calibri"/>
              </a:defRPr>
            </a:pPr>
            <a:r>
              <a:t>Историографическая база: А.Б. Каменский. «От Петра I до Павла I: реформы в России XVIII века»</a:t>
            </a:r>
          </a:p>
          <a:p>
            <a:pPr>
              <a:defRPr sz="1200" i="1">
                <a:solidFill>
                  <a:srgbClr val="555555"/>
                </a:solidFill>
                <a:latin typeface="Calibri"/>
              </a:defRPr>
            </a:pPr>
            <a:r>
              <a:t>Раздел книги А.Б. Каменского: Глава 3, с. 252–254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08A27"/>
                </a:solidFill>
                <a:latin typeface="Arial"/>
              </a:defRPr>
            </a:pPr>
            <a:r>
              <a:t>АННА ЛЕОПОЛЬДОВНА И ИОАНН VI | КРИЗИС 1740 Г.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  <a:latin typeface="Georgia"/>
              </a:defRPr>
            </a:pPr>
            <a:r>
              <a:t>Династический тупик и 22 дня регентства Бирона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55279" y="1645920"/>
            <a:ext cx="3566160" cy="44805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 bIns="274320"/>
          <a:lstStyle/>
          <a:p>
            <a:pPr algn="ctr">
              <a:spcAft>
                <a:spcPts val="800"/>
              </a:spcAft>
              <a:defRPr sz="1200" b="1">
                <a:solidFill>
                  <a:srgbClr val="1B365D"/>
                </a:solidFill>
                <a:latin typeface="Arial"/>
              </a:defRPr>
            </a:pPr>
            <a:r>
              <a:t>Свержение Бирона</a:t>
            </a:r>
          </a:p>
          <a:p>
            <a:pPr>
              <a:defRPr sz="1100" i="1">
                <a:solidFill>
                  <a:srgbClr val="222222"/>
                </a:solidFill>
                <a:latin typeface="Calibri"/>
              </a:defRPr>
            </a:pPr>
            <a:r>
              <a:t>В ночь на 8 ноября 1740 г. фельдмаршал Б.К. Миних силами 80 гвардейцев арестовал Бирона. Регентшей объявлена великая княгиня Анна Леопольдовна. Двор надеялся на стабилизацию.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6858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Завещание Анны Иоанновны (октябрь 1740 г.): </a:t>
            </a:r>
            <a:r>
              <a:rPr sz="1250">
                <a:solidFill>
                  <a:srgbClr val="222222"/>
                </a:solidFill>
                <a:latin typeface="Calibri"/>
              </a:rPr>
              <a:t>Трон завещан двухмесячному Иоанну Антоновичу (сыну Анны Леопольдовны и Антона Ульриха Брауншвейгского), а регентом назначен Э.И. Бирон.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Популистские шаги Бирона: </a:t>
            </a:r>
            <a:r>
              <a:rPr sz="1250">
                <a:solidFill>
                  <a:srgbClr val="222222"/>
                </a:solidFill>
                <a:latin typeface="Calibri"/>
              </a:rPr>
              <a:t>Осознавая шаткость своего положения, регент предпринял экстренные меры для завоевания симпатий дворянства и народа: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Манифест о правосудии: </a:t>
            </a:r>
            <a:r>
              <a:rPr sz="1250">
                <a:solidFill>
                  <a:srgbClr val="222222"/>
                </a:solidFill>
                <a:latin typeface="Calibri"/>
              </a:rPr>
              <a:t>Провозгласил строгое соблюдение законов и справедливый суд без волокиты.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Широкая амнистия: </a:t>
            </a:r>
            <a:r>
              <a:rPr sz="1250">
                <a:solidFill>
                  <a:srgbClr val="222222"/>
                </a:solidFill>
                <a:latin typeface="Calibri"/>
              </a:rPr>
              <a:t>Освобождены многие осужденные, смягчены уголовные кары (кроме оскорбления величества).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Облегчение податей и борьба с роскошью: </a:t>
            </a:r>
            <a:r>
              <a:rPr sz="1250">
                <a:solidFill>
                  <a:srgbClr val="222222"/>
                </a:solidFill>
                <a:latin typeface="Calibri"/>
              </a:rPr>
              <a:t>Сбавлено 17 копеек с подушного оклада на 1740 год; запрещено носить ткани дороже 4 рублей за аршин.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08A27"/>
                </a:solidFill>
                <a:latin typeface="Arial"/>
              </a:defRPr>
            </a:pPr>
            <a:r>
              <a:t>АННА ЛЕОПОЛЬДОВНА И ИОАНН VI | ЗАКОНОДАТЕЛЬСТВО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  <a:latin typeface="Georgia"/>
              </a:defRPr>
            </a:pPr>
            <a:r>
              <a:t>Внутренняя политика Брауншвейгского семейства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55279" y="1645920"/>
            <a:ext cx="3566160" cy="44805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 bIns="274320"/>
          <a:lstStyle/>
          <a:p>
            <a:pPr algn="ctr">
              <a:spcAft>
                <a:spcPts val="800"/>
              </a:spcAft>
              <a:defRPr sz="1200" b="1">
                <a:solidFill>
                  <a:srgbClr val="1B365D"/>
                </a:solidFill>
                <a:latin typeface="Arial"/>
              </a:defRPr>
            </a:pPr>
            <a:r>
              <a:t>Характер курса</a:t>
            </a:r>
          </a:p>
          <a:p>
            <a:pPr>
              <a:defRPr sz="1100" i="1">
                <a:solidFill>
                  <a:srgbClr val="222222"/>
                </a:solidFill>
                <a:latin typeface="Calibri"/>
              </a:defRPr>
            </a:pPr>
            <a:r>
              <a:t>«В целом нетрудно увидеть, что никаких радикальных изменений во внутренней политике не произошло, основные ее направления остались прежними...» (А.Б. Каменский, с. 253).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6858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Преемственность аппарата: </a:t>
            </a:r>
            <a:r>
              <a:rPr sz="1250">
                <a:solidFill>
                  <a:srgbClr val="222222"/>
                </a:solidFill>
                <a:latin typeface="Calibri"/>
              </a:rPr>
              <a:t>Реальное руководство делами перешло к опытному вице-канцлеру графу А.И. Остерману (Миних вскоре отправлен в отставку).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Устав о банкротстве (декабрь 1740 г.): </a:t>
            </a:r>
            <a:r>
              <a:rPr sz="1250">
                <a:solidFill>
                  <a:srgbClr val="222222"/>
                </a:solidFill>
                <a:latin typeface="Calibri"/>
              </a:rPr>
              <a:t>Важнейший коммерческий закон, прямо ориентированный на нормы ведущих европейских торговых держав, где «негоция расцветает».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Устав суконных и каразейных фабрик (1741 г.): </a:t>
            </a:r>
            <a:r>
              <a:rPr sz="1250">
                <a:solidFill>
                  <a:srgbClr val="222222"/>
                </a:solidFill>
                <a:latin typeface="Calibri"/>
              </a:rPr>
              <a:t>Создана комиссия для расследования причин низкого качества русского сукна; принят регламент для обеспечения армии качественным мундирным полотном.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Градостроительство: </a:t>
            </a:r>
            <a:r>
              <a:rPr sz="1250">
                <a:solidFill>
                  <a:srgbClr val="222222"/>
                </a:solidFill>
                <a:latin typeface="Calibri"/>
              </a:rPr>
              <a:t>Сенат разрешил всем желающим вести каменное строительство во всех городах империи (март 1741 г.).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Подтверждение сусанинских льгот: </a:t>
            </a:r>
            <a:r>
              <a:rPr sz="1250">
                <a:solidFill>
                  <a:srgbClr val="222222"/>
                </a:solidFill>
                <a:latin typeface="Calibri"/>
              </a:rPr>
              <a:t>Особой грамотой подтверждено освобождение потомков Ивана Сусанина от рекрутчины и налогов.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08A27"/>
                </a:solidFill>
                <a:latin typeface="Arial"/>
              </a:defRPr>
            </a:pPr>
            <a:r>
              <a:t>АННА ЛЕОПОЛЬДОВНА И ИОАНН VI | АДМИНИСТРАЦИЯ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  <a:latin typeface="Georgia"/>
              </a:defRPr>
            </a:pPr>
            <a:r>
              <a:t>Борьба с бюрократической волокитой и суды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55279" y="1645920"/>
            <a:ext cx="3566160" cy="44805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 bIns="274320"/>
          <a:lstStyle/>
          <a:p>
            <a:pPr algn="ctr">
              <a:spcAft>
                <a:spcPts val="800"/>
              </a:spcAft>
              <a:defRPr sz="1200" b="1">
                <a:solidFill>
                  <a:srgbClr val="1B365D"/>
                </a:solidFill>
                <a:latin typeface="Arial"/>
              </a:defRPr>
            </a:pPr>
            <a:r>
              <a:t>Проблема нищенства</a:t>
            </a:r>
          </a:p>
          <a:p>
            <a:pPr>
              <a:defRPr sz="1100" i="1">
                <a:solidFill>
                  <a:srgbClr val="222222"/>
                </a:solidFill>
                <a:latin typeface="Calibri"/>
              </a:defRPr>
            </a:pPr>
            <a:r>
              <a:t>Летом 1741 г. правительство запретило пускать в Петербург нищих крестьян. Каменский отмечает, что власть тем самым фактически расписалась в бессилии победить нищету и побеги иным путем.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6858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Указ против волокиты (ноябрь 1740 г.): </a:t>
            </a:r>
            <a:r>
              <a:rPr sz="1250">
                <a:solidFill>
                  <a:srgbClr val="222222"/>
                </a:solidFill>
                <a:latin typeface="Calibri"/>
              </a:rPr>
              <a:t>Введены строгие денежные штрафы чиновникам за затягивание дел и нерадение; челобитчикам разрешено подавать жалобы непосредственно генерал-рекетмейстеру.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Комиссия по нерешенным делам: </a:t>
            </a:r>
            <a:r>
              <a:rPr sz="1250">
                <a:solidFill>
                  <a:srgbClr val="222222"/>
                </a:solidFill>
                <a:latin typeface="Calibri"/>
              </a:rPr>
              <a:t>Специальный чрезвычайный орган для разбора сотен дел, залежавшихся в канцеляриях и коллегиях.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Контроль над коллегиями: </a:t>
            </a:r>
            <a:r>
              <a:rPr sz="1250">
                <a:solidFill>
                  <a:srgbClr val="222222"/>
                </a:solidFill>
                <a:latin typeface="Calibri"/>
              </a:rPr>
              <a:t>Предписано ежедневно подавать в Кабинет министров подробные рапорты о решенных делах.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Упразднение должности рекетмейстера (март 1741 г.): </a:t>
            </a:r>
            <a:r>
              <a:rPr sz="1250">
                <a:solidFill>
                  <a:srgbClr val="222222"/>
                </a:solidFill>
                <a:latin typeface="Calibri"/>
              </a:rPr>
              <a:t>Связано с отставкой Миниха и сопротивлением старой коллежской бюрократии.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08A27"/>
                </a:solidFill>
                <a:latin typeface="Arial"/>
              </a:defRPr>
            </a:pPr>
            <a:r>
              <a:t>АННА ЛЕОПОЛЬДОВНА И ИОАНН VI | ПРИЧИНЫ КРАХА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  <a:latin typeface="Georgia"/>
              </a:defRPr>
            </a:pPr>
            <a:r>
              <a:t>Паралич государственной машины и переворот 1741 года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55279" y="1645920"/>
            <a:ext cx="3566160" cy="44805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 bIns="274320"/>
          <a:lstStyle/>
          <a:p>
            <a:pPr algn="ctr">
              <a:spcAft>
                <a:spcPts val="800"/>
              </a:spcAft>
              <a:defRPr sz="1200" b="1">
                <a:solidFill>
                  <a:srgbClr val="1B365D"/>
                </a:solidFill>
                <a:latin typeface="Arial"/>
              </a:defRPr>
            </a:pPr>
            <a:r>
              <a:t>Оценка Каменского</a:t>
            </a:r>
          </a:p>
          <a:p>
            <a:pPr>
              <a:defRPr sz="1100" i="1">
                <a:solidFill>
                  <a:srgbClr val="222222"/>
                </a:solidFill>
                <a:latin typeface="Calibri"/>
              </a:defRPr>
            </a:pPr>
            <a:r>
              <a:t>«Государственная машина начала пробуксовывать, обнаруживая, что работать, так сказать, в автоматическом режиме, не направляемая жесткой рукой самодержца, она не может. Состояние растерянности, бездействия... охватило высший слой бюрократии» (с. 254).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6858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Личностная несостоятельность правительницы: </a:t>
            </a:r>
            <a:r>
              <a:rPr sz="1250">
                <a:solidFill>
                  <a:srgbClr val="222222"/>
                </a:solidFill>
                <a:latin typeface="Calibri"/>
              </a:rPr>
              <a:t>Анна Леопольдовна и принц Антон Ульрих были абсолютно неспособны к государственной деятельности, проводя время в праздности, ссорах и лени.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Ревность к министрам: </a:t>
            </a:r>
            <a:r>
              <a:rPr sz="1250">
                <a:solidFill>
                  <a:srgbClr val="222222"/>
                </a:solidFill>
                <a:latin typeface="Calibri"/>
              </a:rPr>
              <a:t>Не умея править сами, правители ревниво не желали передоверить руководство опытным советникам (Остерману).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Пробуксовка петровской машины: </a:t>
            </a:r>
            <a:r>
              <a:rPr sz="1250">
                <a:solidFill>
                  <a:srgbClr val="222222"/>
                </a:solidFill>
                <a:latin typeface="Calibri"/>
              </a:rPr>
              <a:t>Бюрократический аппарат, созданный Петром Великим, был не способен функционировать «на автопилоте» без сильной монаршей воли.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Всеобщая апатия и брожение: </a:t>
            </a:r>
            <a:r>
              <a:rPr sz="1250">
                <a:solidFill>
                  <a:srgbClr val="222222"/>
                </a:solidFill>
                <a:latin typeface="Calibri"/>
              </a:rPr>
              <a:t>Мемуары и депеши послов фиксируют растерянность элиты и предощущение недолговечности режима.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Финал: </a:t>
            </a:r>
            <a:r>
              <a:rPr sz="1250">
                <a:solidFill>
                  <a:srgbClr val="222222"/>
                </a:solidFill>
                <a:latin typeface="Calibri"/>
              </a:rPr>
              <a:t>Ночной переворот 25 ноября 1741 г. силами роты преображенцев возвел на трон Елизавету Петровну.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