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Пётр III правил всего полгода, но успел издать огромное число важнейших актов. Он действовал импульсивно, пытаясь всё решить разом, ломая традиции и противопоставляя себя медлительной тетке Елизавете.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Обратите внимание: веротерпимость к старообрядцам и секуляризация церковных земель — это шаги подлинного Просвещения. Но поспешность и грубость их проведения настроили церковь против государя.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Каменский называет Манифест о вольности дворянства настоящей революцией. Впервые человек в России получил статус свободного гражданина. Но для крестьян это стало трагедией: они стали частной собственностью помещиков.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Ликвидация Тайной канцелярии — это великий нравственный шаг. Была пресечена вековая эпидемия доносов. А в экономике Манифест 28 марта провозгласил принципы свободной рыночной торговли.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Вот парадокс Петра III: его законы были передовыми, но внешняя политика и самодурство погубили его. Отдав Фридриху плоды побед русской армии, он восстановил против себя гвардию и элиту. Екатерина II свергла его, но продолжила его же реформы.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08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8A27"/>
                </a:solidFill>
                <a:latin typeface="Arial"/>
              </a:defRPr>
            </a:pPr>
            <a:r>
              <a:t>ИСТОРИЯ РОССИИ | СЕМИНАР 1 | ЭПОХА ДВОРЦОВЫХ ПЕРЕВОРОТОВ (1725–1762)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65D"/>
                </a:solidFill>
                <a:latin typeface="Georgia"/>
              </a:defRPr>
            </a:pPr>
            <a:r>
              <a:t>Император Петр III (1761–1762 гг.):</a:t>
            </a:r>
            <a:br/>
            <a:r>
              <a:t>Радикальная модернизация и драма реформатора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B6CB0"/>
                </a:solidFill>
                <a:latin typeface="Calibri"/>
              </a:defRPr>
            </a:pPr>
            <a:r>
              <a:t>Манифест о вольности дворянства, ликвидация Тайной канцелярии и анатомия переворота 28 июня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1005840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Calibri"/>
              </a:defRPr>
            </a:pPr>
            <a:r>
              <a:t>Историографическая база: А.Б. Каменский. «От Петра I до Павла I: реформы в России XVIII века»</a:t>
            </a:r>
          </a:p>
          <a:p>
            <a:pPr>
              <a:defRPr sz="1200" i="1">
                <a:solidFill>
                  <a:srgbClr val="555555"/>
                </a:solidFill>
                <a:latin typeface="Calibri"/>
              </a:defRPr>
            </a:pPr>
            <a:r>
              <a:t>Раздел книги А.Б. Каменского: Глава 4, с. 305–314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ПЕТР III | ЛИЧНОСТЬ И СТИЛЬ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186 дней на троне: специфика монарха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Оценка А.Б. Каменского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«Отсутствие цельности и... хаотичность действий Петра III являются лучшим доказательством отсутствия продуманной программы... Человек нервный, импульсивный, он без оглядки ринулся по своему разумению править страной...» (с. 306).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Законный переход власти: </a:t>
            </a:r>
            <a:r>
              <a:rPr sz="1250">
                <a:solidFill>
                  <a:srgbClr val="222222"/>
                </a:solidFill>
                <a:latin typeface="Calibri"/>
              </a:rPr>
              <a:t>Впервые за десятилетия передача власти произошла автоматически, без потрясений и заговоров.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Абсолютистское сознание: </a:t>
            </a:r>
            <a:r>
              <a:rPr sz="1250">
                <a:solidFill>
                  <a:srgbClr val="222222"/>
                </a:solidFill>
                <a:latin typeface="Calibri"/>
              </a:rPr>
              <a:t>Петр понимал самодержавие как право властвовать без оглядки на кого-либо, руководствуясь исключительно собственными взглядами.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Политика «на контрасте»: </a:t>
            </a:r>
            <a:r>
              <a:rPr sz="1250">
                <a:solidFill>
                  <a:srgbClr val="222222"/>
                </a:solidFill>
                <a:latin typeface="Calibri"/>
              </a:rPr>
              <a:t>Стремление демонстративно противопоставить себя медлительному елизаветинскому царствованию; лихорадочный темп реформ («кавалерийский наскок»).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Окружение реформатора: </a:t>
            </a:r>
            <a:r>
              <a:rPr sz="1250">
                <a:solidFill>
                  <a:srgbClr val="222222"/>
                </a:solidFill>
                <a:latin typeface="Calibri"/>
              </a:rPr>
              <a:t>Д.В. Волков, А.И. Глебов, М.И. Воронцов воплощали в указах назревшие реформы, разработанные еще в конце 1750-х годов.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ПЕТР III | РАДИКАЛЬНЫЕ РЕФОРМЫ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Веротерпимость и секуляризация церковных земель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Оценка Екатерины II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Позже Екатерина II отменила указ мужа, указав, что он был «учинен без всякого порядка и рассмотрения», но уже в 1764 году провела ту же секуляризацию в полном объеме.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Прекращение гонений на старообрядцев (январь 1762 г.): </a:t>
            </a:r>
            <a:r>
              <a:rPr sz="1250">
                <a:solidFill>
                  <a:srgbClr val="222222"/>
                </a:solidFill>
                <a:latin typeface="Calibri"/>
              </a:rPr>
              <a:t>Остановлены розыски по делам о самосожжении; беглым раскольникам разрешено вернуться в Россию из-за границы с гарантией религиозной свободы и защиты от духовенства.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Секуляризация церковных имений (16 февраля 1762 г.): </a:t>
            </a:r>
            <a:r>
              <a:rPr sz="1250">
                <a:solidFill>
                  <a:srgbClr val="222222"/>
                </a:solidFill>
                <a:latin typeface="Calibri"/>
              </a:rPr>
              <a:t>Церковные и монастырские вотчины изъяты в казну; управление передано Коллегии экономии.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Освобождение монастырских крестьян: </a:t>
            </a:r>
            <a:r>
              <a:rPr sz="1250">
                <a:solidFill>
                  <a:srgbClr val="222222"/>
                </a:solidFill>
                <a:latin typeface="Calibri"/>
              </a:rPr>
              <a:t>Бывшие монастырские крестьяне освобождены от барщины и переведены на твердый денежный оброк в 1 рубль.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Политические последствия: </a:t>
            </a:r>
            <a:r>
              <a:rPr sz="1250">
                <a:solidFill>
                  <a:srgbClr val="222222"/>
                </a:solidFill>
                <a:latin typeface="Calibri"/>
              </a:rPr>
              <a:t>Давно назревшая реформа Петра I была проведена внезапно и резко, вызвав яростное сопротивление православной церкви и обвинения Петра в лютеранстве.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ПЕТР III | СОЦИАЛЬНАЯ РЕВОЛЮЦИЯ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Манифест о вольности дворянства (18 февраля 1762 г.)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Тезис А.Б. Каменского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«Манифестом о вольности дворянства была по существу совершена своего рода революция, переворот во всей системе социальных отношений Российского государства... этот переворот носил необратимый характер» (с. 311–312).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Отмена обязательной службы: </a:t>
            </a:r>
            <a:r>
              <a:rPr sz="1250">
                <a:solidFill>
                  <a:srgbClr val="222222"/>
                </a:solidFill>
                <a:latin typeface="Calibri"/>
              </a:rPr>
              <a:t>Дворяне освобождены от обязательной военной и гражданской службы; разрешен свободный выезд за границу и поступление на иностранную службу.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«Социальная революция» по Каменскому: </a:t>
            </a:r>
            <a:r>
              <a:rPr sz="1250">
                <a:solidFill>
                  <a:srgbClr val="222222"/>
                </a:solidFill>
                <a:latin typeface="Calibri"/>
              </a:rPr>
              <a:t>Разрушена вековая система поголовного закрепощения всех сословий перед государством; в России появилось первое свободное сословие.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Рождение усадебной культуры: </a:t>
            </a:r>
            <a:r>
              <a:rPr sz="1250">
                <a:solidFill>
                  <a:srgbClr val="222222"/>
                </a:solidFill>
                <a:latin typeface="Calibri"/>
              </a:rPr>
              <a:t>Массовый отток дворян в деревню породил уникальный феномен русской дворянской усадьбы — центра культуры и агрономии региона.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Крепостнический финал: </a:t>
            </a:r>
            <a:r>
              <a:rPr sz="1250">
                <a:solidFill>
                  <a:srgbClr val="222222"/>
                </a:solidFill>
                <a:latin typeface="Calibri"/>
              </a:rPr>
              <a:t>Крестьяне окончательно превратились в полную частную собственность помещика (связь крестьян с государством порвана).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Указ 29 марта 1762 г.: </a:t>
            </a:r>
            <a:r>
              <a:rPr sz="1250">
                <a:solidFill>
                  <a:srgbClr val="222222"/>
                </a:solidFill>
                <a:latin typeface="Calibri"/>
              </a:rPr>
              <a:t>Фабрикантам-недворянам запрещено покупать крестьян к заводам без земли — закреплена монополия дворян на крепостных.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ПЕТР III | ПРАВО И ЭКОНОМИКА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Ликвидация Тайной канцелярии и экономическая свобода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«Слово и дело государево»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«Ненавистное выражение, а именно: слово и дело, не долженствует отныне значить ничего... а естьли кто отныне оное употребит... наказывать так, как наказываются озорники и бесчинники» (Указ 21 февраля 1762 г.).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Уничтожение Тайной канцелярии (21 февраля 1762 г.): </a:t>
            </a:r>
            <a:r>
              <a:rPr sz="1250">
                <a:solidFill>
                  <a:srgbClr val="222222"/>
                </a:solidFill>
                <a:latin typeface="Calibri"/>
              </a:rPr>
              <a:t>Ликвидирован зловещий внесудебный орган политического сыска; навсегда запрещено выкрикивать «Слово и дело государево».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Нравственное значение: </a:t>
            </a:r>
            <a:r>
              <a:rPr sz="1250">
                <a:solidFill>
                  <a:srgbClr val="222222"/>
                </a:solidFill>
                <a:latin typeface="Calibri"/>
              </a:rPr>
              <a:t>Нанесен сокрушительный удар по укоренившейся культуре доносительства; политические преступления десакрализованы и переданы в регулярный судебный порядок Сената.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Манифест о свободной торговле (28 марта 1762 г.): </a:t>
            </a:r>
            <a:r>
              <a:rPr sz="1250">
                <a:solidFill>
                  <a:srgbClr val="222222"/>
                </a:solidFill>
                <a:latin typeface="Calibri"/>
              </a:rPr>
              <a:t>Сняты запреты на экспорт хлеба и сырья за границу; объявлена война промышленным монополиям и привилегиям.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Государственный ассигнационный банк: </a:t>
            </a:r>
            <a:r>
              <a:rPr sz="1250">
                <a:solidFill>
                  <a:srgbClr val="222222"/>
                </a:solidFill>
                <a:latin typeface="Calibri"/>
              </a:rPr>
              <a:t>Объявлено о создании первого банка для выпуска бумажных ассигнаций; проведена перечеканка медной монеты облегченного веса.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ПЕТР III | ФИНАЛ 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Исторический парадокс: почему реформатор потерял трон?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Итог А.Б. Каменского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«В перевороте сказалась и зрелость русского общества, не желавшего терпеть самодура на троне, воспринимавшего самодержавие как право творить произвол... Но созданная Петром III новая социально-политическая реальность определяла развитие страны на 100 лет вперед» (с. 314).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Самые радикальные реформы: </a:t>
            </a:r>
            <a:r>
              <a:rPr sz="1250">
                <a:solidFill>
                  <a:srgbClr val="222222"/>
                </a:solidFill>
                <a:latin typeface="Calibri"/>
              </a:rPr>
              <a:t>Преобразования Петра III носили модернизационный характер и открывали дорогу Просвещению.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Национальное предательство в глазах армии: </a:t>
            </a:r>
            <a:r>
              <a:rPr sz="1250">
                <a:solidFill>
                  <a:srgbClr val="222222"/>
                </a:solidFill>
                <a:latin typeface="Calibri"/>
              </a:rPr>
              <a:t>Сепаратный Петербургский мир с поверженной Пруссией, возврат королю Фридриху II всех завоеваний и подготовка ненужной войны с Данией за интересы Голштинии.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Конфликт с гвардией: </a:t>
            </a:r>
            <a:r>
              <a:rPr sz="1250">
                <a:solidFill>
                  <a:srgbClr val="222222"/>
                </a:solidFill>
                <a:latin typeface="Calibri"/>
              </a:rPr>
              <a:t>Введение прусских мундиров, палочной муштры, пренебрежение гвардейцами в пользу голштинцев.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Оскорбление веры: </a:t>
            </a:r>
            <a:r>
              <a:rPr sz="1250">
                <a:solidFill>
                  <a:srgbClr val="222222"/>
                </a:solidFill>
                <a:latin typeface="Calibri"/>
              </a:rPr>
              <a:t>Намерение заставить священников сбрить бороды и одеться на лютеранский лад.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Переворот 28 июня 1762 г.: </a:t>
            </a:r>
            <a:r>
              <a:rPr sz="1250">
                <a:solidFill>
                  <a:srgbClr val="222222"/>
                </a:solidFill>
                <a:latin typeface="Calibri"/>
              </a:rPr>
              <a:t>Гвардия во главе с братьями Орловыми свергла Петра III. Императрицей провозглашена Екатерина II.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