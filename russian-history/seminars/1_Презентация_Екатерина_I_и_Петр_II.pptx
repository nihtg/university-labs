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Добрый день, уважаемые коллеги. В первые годы после смерти Петра I ключевой задачей Верховного тайного совета было спасение финансовой системы. Как показывает А.Б. Каменский, страна находилась на грани экономической катастрофы из-за последствий Северной войны. Ревизия Матвеева вскрыла масштабы кризиса: крестьяне массово бежали, а чиновники на местах расхищали сборы.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Обратите внимание: правительство не стало отменять подушную подать, так как без нее армия осталась бы без жалования. Но верховники прагматично скорректировали механизм: убрали армию из деревень, простили недоимки и сделали помещика ответственным сборщиком налога.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Каменский подчеркивает: ликвидация надворных судов и магистратов — это не контрреформа. Общество не было готово к разделению властей и самоуправлению. Воссоздание воевод упорядочило вертикаль власти и снизило расходы казны.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В экономической политике правительство Екатерины I и Петра II показало себя рациональным прагматиком. Вместо петровского диктата был взят курс на поощрение купечества, снижение пошлин и развитие вексельного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Главный вывод, который мы выносим на семинар: термин «реакция» или «контрреформа» для 1725–1730 годов неверен. Это была стабилизация и адаптация петровского наследия. Петровские преобразования выдержали экзамен на необратимость.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1 | ЭПОХА ДВОРЦОВЫХ ПЕРЕВОРОТОВ (1725–1762)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Georgia"/>
              </a:defRPr>
            </a:pPr>
            <a:r>
              <a:t>Екатерина I и Петр II (1725–1730 гг.):</a:t>
            </a:r>
            <a:br/>
            <a:r>
              <a:t>В поисках финансовой и государственной стабильности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Корректировка петровских реформ, фискальный кризис и судьба системы управления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Calibri"/>
              </a:defRPr>
            </a:pPr>
            <a:r>
              <a:t>Историографическая база: А.Б. Каменский. «От Петра I до Павла I: реформы в России XVIII века»</a:t>
            </a:r>
          </a:p>
          <a:p>
            <a:pPr>
              <a:defRPr sz="1200" i="1">
                <a:solidFill>
                  <a:srgbClr val="555555"/>
                </a:solidFill>
                <a:latin typeface="Calibri"/>
              </a:defRPr>
            </a:pPr>
            <a:r>
              <a:t>Раздел книги А.Б. Каменского: Глава 3, с. 207–213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ЕКАТЕРИНА I И ПЕТР II | КОНТЕКСТ ЭПОХИ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Социально-экономический кризис после Северной войны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Свидетельство ревизора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«В здешнем городе великое со дня на день умножение из крестьян нищеты, человек по 200 и больше, и отовсюду их... побег чинится многочисленный от всеконечной их скудости, подушного платить нечем...»</a:t>
            </a:r>
            <a:br/>
            <a:r>
              <a:t>(Из отчета сенатора А.А. Матвеева)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Истощение ресурсов: </a:t>
            </a:r>
            <a:r>
              <a:rPr sz="1250">
                <a:solidFill>
                  <a:srgbClr val="222222"/>
                </a:solidFill>
                <a:latin typeface="Calibri"/>
              </a:rPr>
              <a:t>21 год непрерывной Северной войны привел к глубокому перенапряжению экономики, разорению деревни и кризису платежеспособности населения.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Катастрофический рост недоимок: </a:t>
            </a:r>
            <a:r>
              <a:rPr sz="1250">
                <a:solidFill>
                  <a:srgbClr val="222222"/>
                </a:solidFill>
                <a:latin typeface="Calibri"/>
              </a:rPr>
              <a:t>Введение петровской подушной подати совпало с неурожаями и массовым бегством крестьян в низовые города и на окраины.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Ревизия А.А. Матвеева (Московская губерния): </a:t>
            </a:r>
            <a:r>
              <a:rPr sz="1250">
                <a:solidFill>
                  <a:srgbClr val="222222"/>
                </a:solidFill>
                <a:latin typeface="Calibri"/>
              </a:rPr>
              <a:t>Вскрыла тотальное обнищание населения («нищенские прямые дворы»), чудовищное казнокрадство уездных комиссаров и подьячих, полное отсутствие приходно-расходных книг.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Главная задача правительств: </a:t>
            </a:r>
            <a:r>
              <a:rPr sz="1250">
                <a:solidFill>
                  <a:srgbClr val="222222"/>
                </a:solidFill>
                <a:latin typeface="Calibri"/>
              </a:rPr>
              <a:t>Физическое выживание государственного аппарата и поиск средств для содержания регулярной армии и флота.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ЕКАТЕРИНА I И ПЕТР II | НАЛОГОВАЯ ПОЛИТИКА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Совершенствование подушного налогообложения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Позиция А.Д. Меншикова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Меншиков был убежден, что сам размер подати не обременителен. Он считал достаточным сократить число приказных чиновников, вывести солдат из деревень в городские казармы, чтобы вернуть благосостояние деревне.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Порок механизма, а не принципа: </a:t>
            </a:r>
            <a:r>
              <a:rPr sz="1250">
                <a:solidFill>
                  <a:srgbClr val="222222"/>
                </a:solidFill>
                <a:latin typeface="Calibri"/>
              </a:rPr>
              <a:t>Члены ВТС и Сената видели проблему не в подушном принципе, а в порочной системе учета плательщиков и разрушительной практике сбора.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Ликвидация полковых дворов: </a:t>
            </a:r>
            <a:r>
              <a:rPr sz="1250">
                <a:solidFill>
                  <a:srgbClr val="222222"/>
                </a:solidFill>
                <a:latin typeface="Calibri"/>
              </a:rPr>
              <a:t>Постой армейских полков в деревнях и принуждение крестьян строить полковые дворы разоряли жителей и разлагали воинскую дисциплину. Полки вывели в города.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Снижение подати и списание долгов: </a:t>
            </a:r>
            <a:r>
              <a:rPr sz="1250">
                <a:solidFill>
                  <a:srgbClr val="222222"/>
                </a:solidFill>
                <a:latin typeface="Calibri"/>
              </a:rPr>
              <a:t>Размер подушной подати снижен с 74 до 70 копеек (1725 г.), списаны безнадежные недоимки, разрешен прием податей натурой (хлебом) по рыночным ценам.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Переложение сбора на помещиков: </a:t>
            </a:r>
            <a:r>
              <a:rPr sz="1250">
                <a:solidFill>
                  <a:srgbClr val="222222"/>
                </a:solidFill>
                <a:latin typeface="Calibri"/>
              </a:rPr>
              <a:t>Ответственность за сбор подушной подати возложена на помещиков и приказчиков, что уменьшило произвол военных команд.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Комиссия о податях Д.М. Голицына: </a:t>
            </a:r>
            <a:r>
              <a:rPr sz="1250">
                <a:solidFill>
                  <a:srgbClr val="222222"/>
                </a:solidFill>
                <a:latin typeface="Calibri"/>
              </a:rPr>
              <a:t>Пришла к выводу о невозможности отмены подушного сбора без угрозы ликвидации регулярной армии.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ЕКАТЕРИНА I И ПЕТР II | ГОСУДАРСТВЕННОЕ УПРАВЛЕНИЕ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Преобразования административного аппарата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Коллегиальный принцип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Вопреки рассуждениям о сломе петровского порядка, Верховный тайный совет и реорганизованные коллегии продолжали строго функционировать на основе коллегиальности, Генерального регламента и Табели о рангах.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Упразднение надворных судов: </a:t>
            </a:r>
            <a:r>
              <a:rPr sz="1250">
                <a:solidFill>
                  <a:srgbClr val="222222"/>
                </a:solidFill>
                <a:latin typeface="Calibri"/>
              </a:rPr>
              <a:t>Первый шаг Петра к разделению властей был отменен. Причина — не идеологическая реакция, а банальная экономия средств и полное отсутствие подготовленных юристов в России.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Реформа местной власти (1726–1729 гг.): </a:t>
            </a:r>
            <a:r>
              <a:rPr sz="1250">
                <a:solidFill>
                  <a:srgbClr val="222222"/>
                </a:solidFill>
                <a:latin typeface="Calibri"/>
              </a:rPr>
              <a:t>Воссоздано воеводское управление на местах. Формально это напоминало XVII век, но воевода теперь подчинялся не архаичному приказу, а губернатору и коллегиям, что сформировало строгую вертикаль власти.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Ликвидация городовых магистратов (1727 г.): </a:t>
            </a:r>
            <a:r>
              <a:rPr sz="1250">
                <a:solidFill>
                  <a:srgbClr val="222222"/>
                </a:solidFill>
                <a:latin typeface="Calibri"/>
              </a:rPr>
              <a:t>Попытка возложить на магистраты сбор податей провалилась. Органы самоуправления были ликвидированы, а посад передан воеводам: европейская форма не соответствовала крепостному строю.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Перевод чиновников на «кормление от дел»: </a:t>
            </a:r>
            <a:r>
              <a:rPr sz="1250">
                <a:solidFill>
                  <a:srgbClr val="222222"/>
                </a:solidFill>
                <a:latin typeface="Calibri"/>
              </a:rPr>
              <a:t>Из-за пустоты казны государство прекратило платить жалованье мелким чиновникам, узаконив взимание пошлин (акциденций) с просителей.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ЕКАТЕРИНА I И ПЕТР II | ЭКОНОМИКА И ТОРГОВЛЯ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Торгово-промышленная политика: курс на стабилизацию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Оценка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«В целом торгово-промышленная политика верховников была относительно более либеральной и находилась в русле модернизационных процессов, принося казне столь необходимые средства» (с. 212).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Отказ от жесткого протекционизма: </a:t>
            </a:r>
            <a:r>
              <a:rPr sz="1250">
                <a:solidFill>
                  <a:srgbClr val="222222"/>
                </a:solidFill>
                <a:latin typeface="Calibri"/>
              </a:rPr>
              <a:t>Тариф 1724 г. нанес тяжелый урон внешней торговле. Комиссия о коммерции подготовила более гибкий и умеренный Таможенный тариф 1731 г. на основе голландского образца.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Либерализация торгового мореплавания: </a:t>
            </a:r>
            <a:r>
              <a:rPr sz="1250">
                <a:solidFill>
                  <a:srgbClr val="222222"/>
                </a:solidFill>
                <a:latin typeface="Calibri"/>
              </a:rPr>
              <a:t>Открыты для свободной торговли порты Нарвы и Ревеля, отменены жесткие петровские запреты и требования к типам торговых судов.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Вексельный устав 1729 года: </a:t>
            </a:r>
            <a:r>
              <a:rPr sz="1250">
                <a:solidFill>
                  <a:srgbClr val="222222"/>
                </a:solidFill>
                <a:latin typeface="Calibri"/>
              </a:rPr>
              <a:t>Создал современную юридическую основу для коммерческого кредита и безналичных расчетов купечества.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Адресная поддержка мануфактур: </a:t>
            </a:r>
            <a:r>
              <a:rPr sz="1250">
                <a:solidFill>
                  <a:srgbClr val="222222"/>
                </a:solidFill>
                <a:latin typeface="Calibri"/>
              </a:rPr>
              <a:t>Несмотря на безденежье, правительство точечно субсидировало казенными льготами и дотациями жизнеспособные промышленные предприятия.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ЕКАТЕРИНА I И ПЕТР II | ИСТОРИОГРАФИЧЕСКИЙ 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Концепция А.Б. Каменского: контрреформа или стабилизация?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Главный вывод книги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«Первые годы истории послепетровской России доказали, что реформы Петра в основе своей были необратимы, и необратимы именно потому, что в целом соответствовали естественному направлению развития страны» (с. 213).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Преемственность вместо слома: </a:t>
            </a:r>
            <a:r>
              <a:rPr sz="1250">
                <a:solidFill>
                  <a:srgbClr val="222222"/>
                </a:solidFill>
                <a:latin typeface="Calibri"/>
              </a:rPr>
              <a:t>В первые пять лет после Петра процесс преобразований не остановился и не был повернут вспять. Реформы Петра доказали свою необратимость.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Приспособление к возможностям страны: </a:t>
            </a:r>
            <a:r>
              <a:rPr sz="1250">
                <a:solidFill>
                  <a:srgbClr val="222222"/>
                </a:solidFill>
                <a:latin typeface="Calibri"/>
              </a:rPr>
              <a:t>Содержание политики сводилось к корректировке тех институтов, которые не выдержали столкновения с реальной жизнью и разорением страны.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Незыблемость петровского фундамента: </a:t>
            </a:r>
            <a:r>
              <a:rPr sz="1250">
                <a:solidFill>
                  <a:srgbClr val="222222"/>
                </a:solidFill>
                <a:latin typeface="Calibri"/>
              </a:rPr>
              <a:t>Социальная структура, Табель о рангах, регулярная армия и флот, подушная система, светский характер государства и активная внешняя политика остались неизменными.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Итог периода 1725–1730 гг.: </a:t>
            </a:r>
            <a:r>
              <a:rPr sz="1250">
                <a:solidFill>
                  <a:srgbClr val="222222"/>
                </a:solidFill>
                <a:latin typeface="Calibri"/>
              </a:rPr>
              <a:t>Это была эпоха необходимой социально-экономической стабилизации, спасшая страну от государственного банкротства.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