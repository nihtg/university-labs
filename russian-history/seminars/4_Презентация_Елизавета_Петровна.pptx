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Царствование Елизаветы — это перелом. Потенциал мелкой правки петровских указов исчерпался. Появился выдающийся реформатор — граф Петр Шувалов, начавший масштабные структурные реформы.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Шуваловская финансовая реформа гениальна для своего времени: повысив цены на соль и вино, государство получило сверхдоходы, списало гигантские недоимки за 23 года и снизило подушную подать без народных бунтов.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Таможенная реформа 1754 года — одно из величайших экономических событий XVIII века. Россия ликвидировала внутренние таможни раньше большинства европейских стран, объединив империю в единый рынок.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Каменский раскрывает противоречивость реформ: учреждение банков дало старт кредитной системе, но оценило душу крестьянина в 10 рублей. А монополия на винокурение окончательно закрепила крепостной труд за дворянством.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В конце правления Елизаветы столкнулись две модели: ультракрепостнический проект Уложенной комиссии и просвещенный проект И.И. Шувалова, предлагавший ограничить произвол императора фундаментальными законами.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8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A27"/>
                </a:solidFill>
                <a:latin typeface="Arial"/>
              </a:defRPr>
            </a:pPr>
            <a:r>
              <a:t>ИСТОРИЯ РОССИИ | СЕМИНАР 1 | ЭПОХА ДВОРЦОВЫХ ПЕРЕВОРОТОВ (1725–1762)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Georgia"/>
              </a:defRPr>
            </a:pPr>
            <a:r>
              <a:t>Елизавета Петровна (1741–1761 гг.):</a:t>
            </a:r>
            <a:br/>
            <a:r>
              <a:t>От корректировки курса к масштабным реформам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6CB0"/>
                </a:solidFill>
                <a:latin typeface="Calibri"/>
              </a:defRPr>
            </a:pPr>
            <a:r>
              <a:t>Экономический гений П.И. Шувалова, отмена внутренних таможен и два проекта будущего России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05840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Calibri"/>
              </a:defRPr>
            </a:pPr>
            <a:r>
              <a:t>Историографическая база: А.Б. Каменский. «От Петра I до Павла I: реформы в России XVIII века»</a:t>
            </a:r>
          </a:p>
          <a:p>
            <a:pPr>
              <a:defRPr sz="1200" i="1">
                <a:solidFill>
                  <a:srgbClr val="555555"/>
                </a:solidFill>
                <a:latin typeface="Calibri"/>
              </a:defRPr>
            </a:pPr>
            <a:r>
              <a:t>Раздел книги А.Б. Каменского: Глава 4, с. 291–304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ЕЛИЗАВЕТА ПЕТРОВНА | РУБЕЖ ЭПОХИ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Качественный перелом: исчерпанность полумер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Тезис А.Б. Каменского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«С середины века начинается новый этап в истории российских реформ, связанный уже не с корректировкой сделанного прежде... но с созданием новой реальности, т. е. проведением реформ значительно более масштабных...» (с. 291).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Осознание порока системы: </a:t>
            </a:r>
            <a:r>
              <a:rPr sz="1250">
                <a:solidFill>
                  <a:srgbClr val="222222"/>
                </a:solidFill>
                <a:latin typeface="Calibri"/>
              </a:rPr>
              <a:t>К 1740-м гг. стало ясно, что кризис вызван не искажением преемниками заветов Петра, а внутренними изъянами созданной им институциональной системы.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Исчерпанность «грозных указов»: </a:t>
            </a:r>
            <a:r>
              <a:rPr sz="1250">
                <a:solidFill>
                  <a:srgbClr val="222222"/>
                </a:solidFill>
                <a:latin typeface="Calibri"/>
              </a:rPr>
              <a:t>Методы механического переименования канцелярий и коллегий более не работали. Требовались принципиально новые условия хозяйствования.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Прожектерская энергия графа П.И. Шувалова: </a:t>
            </a:r>
            <a:r>
              <a:rPr sz="1250">
                <a:solidFill>
                  <a:srgbClr val="222222"/>
                </a:solidFill>
                <a:latin typeface="Calibri"/>
              </a:rPr>
              <a:t>Шувалов направил реформы не на ломку учреждений, а на модернизацию налоговых, таможенных и кредитных условий.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Сенат как законодатель: </a:t>
            </a:r>
            <a:r>
              <a:rPr sz="1250">
                <a:solidFill>
                  <a:srgbClr val="222222"/>
                </a:solidFill>
                <a:latin typeface="Calibri"/>
              </a:rPr>
              <a:t>Императрица неохотно занималась рутиной; Сенат явочным порядком расширил права, решая дела коллегиально до высочайшей конфирмации.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ЕЛИЗАВЕТА ПЕТРОВНА | ФИНАНСЫ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Фискальная реформа П.И. Шувалова: переход к косвенным налогам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Социальный баланс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Косвенное обложение соли заставило платить налог даже привилегированные сословия (дворянство и духовенство), ранее освобожденные от прямых податей.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Остроумная идея Шувалова (1747–1750 гг.): </a:t>
            </a:r>
            <a:r>
              <a:rPr sz="1250">
                <a:solidFill>
                  <a:srgbClr val="222222"/>
                </a:solidFill>
                <a:latin typeface="Calibri"/>
              </a:rPr>
              <a:t>Если подушную подать выбить с разоренного населения невозможно, то соль и вино будут покупать всегда, даже по повышенным ценам.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Повышение цен на соль и вино: </a:t>
            </a:r>
            <a:r>
              <a:rPr sz="1250">
                <a:solidFill>
                  <a:srgbClr val="222222"/>
                </a:solidFill>
                <a:latin typeface="Calibri"/>
              </a:rPr>
              <a:t>Государственные монополии на соль и вино дали колоссальный приток «живых» денег в дефицитный бюджет.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Снижение подушной подати: </a:t>
            </a:r>
            <a:r>
              <a:rPr sz="1250">
                <a:solidFill>
                  <a:srgbClr val="222222"/>
                </a:solidFill>
                <a:latin typeface="Calibri"/>
              </a:rPr>
              <a:t>За счет косвенных доходов государство смогло регулярно снижать подушную подать (на 3–8 копеек с души) в 1750–1758 гг.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Великое прощение недоимок (декабрь 1752 г.): </a:t>
            </a:r>
            <a:r>
              <a:rPr sz="1250">
                <a:solidFill>
                  <a:srgbClr val="222222"/>
                </a:solidFill>
                <a:latin typeface="Calibri"/>
              </a:rPr>
              <a:t>Манифестом прощены все безнадежные недоимки по подушной подати с 1724 по 1747 г., что ликвидировало острейшую социальную напряженность.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Европейский путь: </a:t>
            </a:r>
            <a:r>
              <a:rPr sz="1250">
                <a:solidFill>
                  <a:srgbClr val="222222"/>
                </a:solidFill>
                <a:latin typeface="Calibri"/>
              </a:rPr>
              <a:t>Перенос налогового бремени на косвенное обложение соответствовал передовой финансовой практике Европы.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ЕЛИЗАВЕТА ПЕТРОВНА | ТАМОЖЕННАЯ РЕФОРМА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Ликвидация внутренних таможен (1753–1754 гг.)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Значение реформы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Ликвидация внутренних таможен уничтожила экономическую феодальную раздробленность, дав гигантский импульс всероссийской торговле и товарообороту.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Исторический проект Шувалова (1753 г.): </a:t>
            </a:r>
            <a:r>
              <a:rPr sz="1250">
                <a:solidFill>
                  <a:srgbClr val="222222"/>
                </a:solidFill>
                <a:latin typeface="Calibri"/>
              </a:rPr>
              <a:t>Полная ликвидация внутренних таможенных сборов, мелочных пошлин, сборов с мостов, перевозов, прорубей и ледоколов.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Законодательное оформление: </a:t>
            </a:r>
            <a:r>
              <a:rPr sz="1250">
                <a:solidFill>
                  <a:srgbClr val="222222"/>
                </a:solidFill>
                <a:latin typeface="Calibri"/>
              </a:rPr>
              <a:t>Указ 18 декабря 1753 г., решение Комиссии о пошлинах от 4 января 1754 г. — таможни внутри страны уничтожены с 23 января 1754 г.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Единая пограничная пошлина: </a:t>
            </a:r>
            <a:r>
              <a:rPr sz="1250">
                <a:solidFill>
                  <a:srgbClr val="222222"/>
                </a:solidFill>
                <a:latin typeface="Calibri"/>
              </a:rPr>
              <a:t>Вместо сотен внутренних сборов введена единая 13-копеечная пошлина на внешней границе империи.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Таможенный устав 1755 г. и Тариф 1757 г.: </a:t>
            </a:r>
            <a:r>
              <a:rPr sz="1250">
                <a:solidFill>
                  <a:srgbClr val="222222"/>
                </a:solidFill>
                <a:latin typeface="Calibri"/>
              </a:rPr>
              <a:t>Закрепили протекционистскую защиту отечественного купечества и ограничили права дворян на розничную торговлю в портах.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Создание всероссийского рынка: </a:t>
            </a:r>
            <a:r>
              <a:rPr sz="1250">
                <a:solidFill>
                  <a:srgbClr val="222222"/>
                </a:solidFill>
                <a:latin typeface="Calibri"/>
              </a:rPr>
              <a:t>Россия опередила Францию, где внутренние таможни сохранялись вплоть до революции 1789 года!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ЕЛИЗАВЕТА ПЕТРОВНА | КРЕДИТ И СОСЛОВИЯ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Рождение банковской системы и монополия на винокурение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Политика в Малороссии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Восстановление гетманства К.Г. Разумовского (1750 г.) сочеталось с беспошлинным ввозом товаров и переводом украинских дел из Иностранной коллегии в Сенат (1756 г.) — шла интеграция Украины в империю.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Государственный заемный банк (1754 г.): </a:t>
            </a:r>
            <a:r>
              <a:rPr sz="1250">
                <a:solidFill>
                  <a:srgbClr val="222222"/>
                </a:solidFill>
                <a:latin typeface="Calibri"/>
              </a:rPr>
              <a:t>Состоял из двух отделений: Дворянского банка (ссуды дворянам под 6% годовых под залог имений) и Купеческого банка при порте Санкт-Петербурга.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Крепостническая изнанка кредита: </a:t>
            </a:r>
            <a:r>
              <a:rPr sz="1250">
                <a:solidFill>
                  <a:srgbClr val="222222"/>
                </a:solidFill>
                <a:latin typeface="Calibri"/>
              </a:rPr>
              <a:t>Залог имения оценивался по числу крепостных душ (10 рублей за мужскую ревизскую душу). Государство де-юре установило денежную цену крестьянина.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Медный банк (1758 г.) и Артиллерийский банк (1760 г.): </a:t>
            </a:r>
            <a:r>
              <a:rPr sz="1250">
                <a:solidFill>
                  <a:srgbClr val="222222"/>
                </a:solidFill>
                <a:latin typeface="Calibri"/>
              </a:rPr>
              <a:t>Масштабное кредитование промышленности и дворянства медными деньгами.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Дворянская монополия на винокурение (1755 г.): </a:t>
            </a:r>
            <a:r>
              <a:rPr sz="1250">
                <a:solidFill>
                  <a:srgbClr val="222222"/>
                </a:solidFill>
                <a:latin typeface="Calibri"/>
              </a:rPr>
              <a:t>Купцы вытеснены из сверхдоходного производства водки. Винокурение превратило барщинное поместье в товарное хозяйство и усилило монополию дворян на землю и крестьян.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ЕЛИЗАВЕТА ПЕТРОВНА | ПРОЕКТЫ БУДУЩЕГО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Две альтернативные модели развития России (с. 303–304)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Гуманизация нравов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Фактическая отмена смертной казни, отмена пыток по корчемным делам (1751 г.), отмена кнута за ложный донос (1742 г.). Основание Московского университета (1755 г.) и Академии художеств (1757 г.).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1. Проект Уложенной комиссии (2-я редакция): </a:t>
            </a:r>
            <a:r>
              <a:rPr sz="1250">
                <a:solidFill>
                  <a:srgbClr val="222222"/>
                </a:solidFill>
                <a:latin typeface="Calibri"/>
              </a:rPr>
              <a:t>Апогей дворянского сословного эгоизма: отмена обязательной службы, монополия на недра, заводы и землю, освобождение от телесных наказаний.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Глава XIX проекта Уложения: </a:t>
            </a:r>
            <a:r>
              <a:rPr sz="1250">
                <a:solidFill>
                  <a:srgbClr val="222222"/>
                </a:solidFill>
                <a:latin typeface="Calibri"/>
              </a:rPr>
              <a:t>Впервые в законе детально закреплялась абсолютная власть помещика над личностью и имуществом крепостных (продажа, заклад, каторга, право распоряжаться всем имуществом крестьянина).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2. Проект И.И. Шувалова («О сохранении народа»): </a:t>
            </a:r>
            <a:r>
              <a:rPr sz="1250">
                <a:solidFill>
                  <a:srgbClr val="222222"/>
                </a:solidFill>
                <a:latin typeface="Calibri"/>
              </a:rPr>
              <a:t>Вдохновлен трактатами Монтескье. Разграничение монархии и деспотии через верховенство закона.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«Фундаментальные законы»: </a:t>
            </a:r>
            <a:r>
              <a:rPr sz="1250">
                <a:solidFill>
                  <a:srgbClr val="222222"/>
                </a:solidFill>
                <a:latin typeface="Calibri"/>
              </a:rPr>
              <a:t>Шувалов предлагал ввести законы, обязательные для самого монарха, а крестьян признать субъектами права, создав в будущем отдельное защитное законодательство.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