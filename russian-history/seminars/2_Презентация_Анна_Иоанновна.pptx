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Коллеги, в 1730 году произошло фундаментальное событие: дворянство впервые осознало себя как сплоченную корпорацию. Разорвав Кондиции верховников, Анна восстановила самодержавие руками шляхетства, что предопределило всю ее сословную политику.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Каменский убедительно показывает, что приезд Бирона не был прихотью. Императрице жизненно необходима была собственная преданная опора, чтобы не оказаться марионеткой олигархических группировок.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Обратите внимание на первые же шаги правительства Анны: отмена Верховного совета, возрождение Сената и забота об инженерных кадрах. Власть постоянно апеллировала к авторитету «великого дяди».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А.Б. Каменский детально анализирует массив из 3,5 тысяч указов. Это была колоссальная рутинная работа по обустройству империи, развитию промышленности, горного дела и городов.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Заметки для доклада:</a:t>
            </a:r>
          </a:p>
          <a:p>
            <a:r>
              <a:t>Вот важнейший историографический вывод Каменского: именно при Анне правительство начинает понимать, что корень финансового тупика — это крепостное право, которое истощает производительные силы страны.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08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08A27"/>
                </a:solidFill>
                <a:latin typeface="Arial"/>
              </a:defRPr>
            </a:pPr>
            <a:r>
              <a:t>ИСТОРИЯ РОССИИ | СЕМИНАР 1 | ЭПОХА ДВОРЦОВЫХ ПЕРЕВОРОТОВ (1725–1762)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Georgia"/>
              </a:defRPr>
            </a:pPr>
            <a:r>
              <a:t>Императрица Анна Иоанновна (1730–1740 гг.):</a:t>
            </a:r>
            <a:br/>
            <a:r>
              <a:t>Самодержавие, дворянский компромисс и петровский вектор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6CB0"/>
                </a:solidFill>
                <a:latin typeface="Calibri"/>
              </a:defRPr>
            </a:pPr>
            <a:r>
              <a:t>От «затейки верховников» к рутинной модернизации: разрушение историографических мифов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1005840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2222"/>
                </a:solidFill>
                <a:latin typeface="Calibri"/>
              </a:defRPr>
            </a:pPr>
            <a:r>
              <a:t>Историографическая база: А.Б. Каменский. «От Петра I до Павла I: реформы в России XVIII века»</a:t>
            </a:r>
          </a:p>
          <a:p>
            <a:pPr>
              <a:defRPr sz="1200" i="1">
                <a:solidFill>
                  <a:srgbClr val="555555"/>
                </a:solidFill>
                <a:latin typeface="Calibri"/>
              </a:defRPr>
            </a:pPr>
            <a:r>
              <a:t>Раздел книги А.Б. Каменского: Глава 3, с. 218–219, 251–252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ИОАННОВНА | КРИЗИС 1730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«Затейка верховников» и рождение дворянства как сословия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А.Б. Каменский о кризисе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«По существу государственная власть впервые столкнулась с фактом существования в стране социальной группы, способной к самоорганизации... Политическая стабильность могла быть обеспечена только на пути компромисса с этой группой» (с. 218).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Пресечение мужской линии (январь 1730 г.): </a:t>
            </a:r>
            <a:r>
              <a:rPr sz="1250">
                <a:solidFill>
                  <a:srgbClr val="222222"/>
                </a:solidFill>
                <a:latin typeface="Calibri"/>
              </a:rPr>
              <a:t>Смерть Петра II поставила вопрос о власти. Верховный тайный совет призвал курляндскую герцогиню Анну Иоанновну, ограничив ее власть олигархическими «Кондициями».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Впервые в истории России: </a:t>
            </a:r>
            <a:r>
              <a:rPr sz="1250">
                <a:solidFill>
                  <a:srgbClr val="222222"/>
                </a:solidFill>
                <a:latin typeface="Calibri"/>
              </a:rPr>
              <a:t>Государственная власть столкнулась с фактом существования дворянства как социальной группы, способной к самоорганизации, защите сословных интересов и составлению собственных проектов (Татищев, Черкасский).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Суть компромисса 25 февраля 1730 г.: </a:t>
            </a:r>
            <a:r>
              <a:rPr sz="1250">
                <a:solidFill>
                  <a:srgbClr val="222222"/>
                </a:solidFill>
                <a:latin typeface="Calibri"/>
              </a:rPr>
              <a:t>Дворянство и гвардейские полки отвергли олигархию верховников и подали челобитную Анне о восстановлении самодержавия. Анна публично разорвала Кондиции.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Необходимость опоры: </a:t>
            </a:r>
            <a:r>
              <a:rPr sz="1250">
                <a:solidFill>
                  <a:srgbClr val="222222"/>
                </a:solidFill>
                <a:latin typeface="Calibri"/>
              </a:rPr>
              <a:t>Монархия смогла обрести стабильность только через удовлетворение дворянских требований.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ИОАННОВНА | ПРИРОДА ВЛАСТИ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Формирование правящей команды и роль Э.И. Бирона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Кадровая опора власти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«В этих условиях вызов и приезд в Россию Бирона, человека, несомненно, верного и уже проверенного, был для Анны не только духовной, но и политической необходимостью...» (с. 218).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Отсутствие связей в Москве: </a:t>
            </a:r>
            <a:r>
              <a:rPr sz="1250">
                <a:solidFill>
                  <a:srgbClr val="222222"/>
                </a:solidFill>
                <a:latin typeface="Calibri"/>
              </a:rPr>
              <a:t>Прибыв из Курляндии, Анна не имела собственной группировки преданных людей в высших эшелонах власти.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Политическая необходимость фаворита: </a:t>
            </a:r>
            <a:r>
              <a:rPr sz="1250">
                <a:solidFill>
                  <a:srgbClr val="222222"/>
                </a:solidFill>
                <a:latin typeface="Calibri"/>
              </a:rPr>
              <a:t>Вызов Эрнста Иоганна Бирона был продиктован духовной и политической потребностью создать противовес старой знати (Голицыным и Долгоруковым).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Легитимность статуса: </a:t>
            </a:r>
            <a:r>
              <a:rPr sz="1250">
                <a:solidFill>
                  <a:srgbClr val="222222"/>
                </a:solidFill>
                <a:latin typeface="Calibri"/>
              </a:rPr>
              <a:t>В спорах 1730 г. никто не оспаривал права Анны на корону как представительницы старшей ветви Романовых.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Преодоление мифа о «бироновщине»: </a:t>
            </a:r>
            <a:r>
              <a:rPr sz="1250">
                <a:solidFill>
                  <a:srgbClr val="222222"/>
                </a:solidFill>
                <a:latin typeface="Calibri"/>
              </a:rPr>
              <a:t>Каменский подчеркивает: представление об аннинском десятилетии как о времени сплошного террора немцев и национального унижения — устаревший историографический миф.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ИОАННОВНА | ПРЕЕМСТВЕННОСТЬ РЕФОРМ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Символы верности петровскому наследию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Указ 4 марта 1730 г.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Восстановление Сената и коллегий стало важнейшим шагом к восстановлению регулярного бюрократического порядка, завещанного Петром Великим.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Первые указы (февраль 1730 г.): </a:t>
            </a:r>
            <a:r>
              <a:rPr sz="1250">
                <a:solidFill>
                  <a:srgbClr val="222222"/>
                </a:solidFill>
                <a:latin typeface="Calibri"/>
              </a:rPr>
              <a:t>Указ о приеме на службу европейских военных инженеров и финансировании Инженерной школы: прямая декларация продолжения петровского курса модернизации армии.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Ликвидация ВТС и возвышение Сената (4 марта 1730 г.): </a:t>
            </a:r>
            <a:r>
              <a:rPr sz="1250">
                <a:solidFill>
                  <a:srgbClr val="222222"/>
                </a:solidFill>
                <a:latin typeface="Calibri"/>
              </a:rPr>
              <a:t>Одиозный Верховный тайный совет упразднен, а статус Правительствующего Сената торжественно восстановлен «на таком основании и в такой силе, как при Дяде Нашем Петре Великом был».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Шляхетский кадетский корпус (1731/32 г.): </a:t>
            </a:r>
            <a:r>
              <a:rPr sz="1250">
                <a:solidFill>
                  <a:srgbClr val="222222"/>
                </a:solidFill>
                <a:latin typeface="Calibri"/>
              </a:rPr>
              <a:t>Открытие военного учебного заведения европейского типа, позволившего дворянам получать офицерский чин без прохождения тяжелой солдатской службы рядовыми.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Отмена единонаследия (1730/31 г.): </a:t>
            </a:r>
            <a:r>
              <a:rPr sz="1250">
                <a:solidFill>
                  <a:srgbClr val="222222"/>
                </a:solidFill>
                <a:latin typeface="Calibri"/>
              </a:rPr>
              <a:t>Удовлетворение ключевого требования шляхетства: ликвидация петровского запрета на дробление имений при наследовании.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ИОАННОВНА | ЗАКОНОДАТЕЛЬСТВО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Кабинет министров и масштаб государственной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Оценка Каменского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«Интенсивность законодательной деятельности правительства Анны... была задана реформами Петра и подтверждает отсутствие у тогдашних правителей намерений пересмотреть их главнейшие итоги» (с. 251).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Учреждение Кабинета министров (1731 г.): </a:t>
            </a:r>
            <a:r>
              <a:rPr sz="1250">
                <a:solidFill>
                  <a:srgbClr val="222222"/>
                </a:solidFill>
                <a:latin typeface="Calibri"/>
              </a:rPr>
              <a:t>Высший орган исполнительной власти (А.И. Остерман, А.М. Черкасский, Г.И. Головкин). Подписи трех министров приравнивались к высочайшей подписи императрицы.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Опровержение тезиса Е.В. Анисимова: </a:t>
            </a:r>
            <a:r>
              <a:rPr sz="1250">
                <a:solidFill>
                  <a:srgbClr val="222222"/>
                </a:solidFill>
                <a:latin typeface="Calibri"/>
              </a:rPr>
              <a:t>Анисимов утверждал, что из 3,5 тыс. указов Анны важны лишь единицы. Каменский доказывает: это искажение. Законодательство отражает колоссальную повседневную созидательную работу.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Сферы регуляции: </a:t>
            </a:r>
            <a:r>
              <a:rPr sz="1250">
                <a:solidFill>
                  <a:srgbClr val="222222"/>
                </a:solidFill>
                <a:latin typeface="Calibri"/>
              </a:rPr>
              <a:t>Горное дело, организация почтовой службы, полиция, фабричное законодательство, градостроительство, таможенные тарифы.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Признак стабильности: </a:t>
            </a:r>
            <a:r>
              <a:rPr sz="1250">
                <a:solidFill>
                  <a:srgbClr val="222222"/>
                </a:solidFill>
                <a:latin typeface="Calibri"/>
              </a:rPr>
              <a:t>Отсутствие резких потрясений свидетельствует о том, что власть планомерно развивала петровские институты.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A27"/>
                </a:solidFill>
                <a:latin typeface="Arial"/>
              </a:defRPr>
            </a:pPr>
            <a:r>
              <a:t>АННА ИОАННОВНА | ГЛАВНОЕ ПРОТИВОРЕЧИЕ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Фискальный тупик и осознание порока крепостничества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645920"/>
            <a:ext cx="3566160" cy="4480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1B365D"/>
                </a:solidFill>
                <a:latin typeface="Arial"/>
              </a:defRPr>
            </a:pPr>
            <a:r>
              <a:t>Ключевой вывод книги</a:t>
            </a:r>
          </a:p>
          <a:p>
            <a:pPr>
              <a:defRPr sz="1100" i="1">
                <a:solidFill>
                  <a:srgbClr val="222222"/>
                </a:solidFill>
                <a:latin typeface="Calibri"/>
              </a:defRPr>
            </a:pPr>
            <a:r>
              <a:t>«То, что к концу 1730-х годов правительство обрушивает свой гнев за недоимки прежде всего на душевладельцев, свидетельствует, что в правительственных кругах зарождается осознание того, что главная причина всех нестроений — в крепостном праве» (с. 252).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Хронический кризис подушной подати: </a:t>
            </a:r>
            <a:r>
              <a:rPr sz="1250">
                <a:solidFill>
                  <a:srgbClr val="222222"/>
                </a:solidFill>
                <a:latin typeface="Calibri"/>
              </a:rPr>
              <a:t>На протяжении всех 1730-х гг. казна страдала от колоссальных недоимок. Ни списания долгов, ни карательные экспедиции генерала Салтыкова не давали устойчивого результата.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Смена вектора фискальных репрессий: </a:t>
            </a:r>
            <a:r>
              <a:rPr sz="1250">
                <a:solidFill>
                  <a:srgbClr val="222222"/>
                </a:solidFill>
                <a:latin typeface="Calibri"/>
              </a:rPr>
              <a:t>К концу 1730-х гг. правительство переносит гнев за недоимки с крестьянских общин на самих помещиков-душевладельцев.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Зарождение понимания корня зла: </a:t>
            </a:r>
            <a:r>
              <a:rPr sz="1250">
                <a:solidFill>
                  <a:srgbClr val="222222"/>
                </a:solidFill>
                <a:latin typeface="Calibri"/>
              </a:rPr>
              <a:t>В верхах бюрократии зарождается осознание того, что первопричина неплатежей лежит в самом социальном строе — в крепостном праве, разоряющем крестьянина.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B6CB0"/>
                </a:solidFill>
                <a:latin typeface="Calibri"/>
              </a:rPr>
              <a:t>Итог правления: </a:t>
            </a:r>
            <a:r>
              <a:rPr sz="1250">
                <a:solidFill>
                  <a:srgbClr val="222222"/>
                </a:solidFill>
                <a:latin typeface="Calibri"/>
              </a:rPr>
              <a:t>Продвижение вперед по петровскому пути при сохранении неразрешенного противоречия между крепостничеством и государственными финансами.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